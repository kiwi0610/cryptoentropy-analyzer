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5" r:id="rId2"/>
  </p:sldMasterIdLst>
  <p:notesMasterIdLst>
    <p:notesMasterId r:id="rId18"/>
  </p:notesMasterIdLst>
  <p:sldIdLst>
    <p:sldId id="322" r:id="rId3"/>
    <p:sldId id="321" r:id="rId4"/>
    <p:sldId id="323" r:id="rId5"/>
    <p:sldId id="325" r:id="rId6"/>
    <p:sldId id="316" r:id="rId7"/>
    <p:sldId id="318" r:id="rId8"/>
    <p:sldId id="267" r:id="rId9"/>
    <p:sldId id="324" r:id="rId10"/>
    <p:sldId id="320" r:id="rId11"/>
    <p:sldId id="313" r:id="rId12"/>
    <p:sldId id="312" r:id="rId13"/>
    <p:sldId id="257" r:id="rId14"/>
    <p:sldId id="258" r:id="rId15"/>
    <p:sldId id="314" r:id="rId16"/>
    <p:sldId id="315" r:id="rId17"/>
  </p:sldIdLst>
  <p:sldSz cx="9144000" cy="5143500" type="screen16x9"/>
  <p:notesSz cx="6858000" cy="9144000"/>
  <p:embeddedFontLst>
    <p:embeddedFont>
      <p:font typeface="Advent Pro" panose="020B0604020202020204" charset="-18"/>
      <p:regular r:id="rId19"/>
      <p:bold r:id="rId20"/>
      <p:italic r:id="rId21"/>
      <p:boldItalic r:id="rId22"/>
    </p:embeddedFont>
    <p:embeddedFont>
      <p:font typeface="Alumni Sans Pinstripe" panose="020B0604020202020204" charset="-18"/>
      <p:regular r:id="rId23"/>
      <p:italic r:id="rId24"/>
    </p:embeddedFont>
    <p:embeddedFont>
      <p:font typeface="Arial Black" panose="020B0A04020102020204" pitchFamily="34" charset="0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5EC2A9-2B5D-4271-97D5-42666DF6FDFD}">
  <a:tblStyle styleId="{585EC2A9-2B5D-4271-97D5-42666DF6FD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93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1">
          <a:extLst>
            <a:ext uri="{FF2B5EF4-FFF2-40B4-BE49-F238E27FC236}">
              <a16:creationId xmlns:a16="http://schemas.microsoft.com/office/drawing/2014/main" id="{28D8A07B-6A0C-E7E0-D5A8-FEFBE95C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2" name="Google Shape;3672;g11bc263f502_0_2310:notes">
            <a:extLst>
              <a:ext uri="{FF2B5EF4-FFF2-40B4-BE49-F238E27FC236}">
                <a16:creationId xmlns:a16="http://schemas.microsoft.com/office/drawing/2014/main" id="{EDD646AB-9195-5BF4-C1A6-A5C41EC500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3" name="Google Shape;3673;g11bc263f502_0_2310:notes">
            <a:extLst>
              <a:ext uri="{FF2B5EF4-FFF2-40B4-BE49-F238E27FC236}">
                <a16:creationId xmlns:a16="http://schemas.microsoft.com/office/drawing/2014/main" id="{68F16123-5DA7-8E1B-CC19-946A2A1A1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5846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g11bc263f502_0_2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2" name="Google Shape;3822;g11bc263f502_0_2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5">
          <a:extLst>
            <a:ext uri="{FF2B5EF4-FFF2-40B4-BE49-F238E27FC236}">
              <a16:creationId xmlns:a16="http://schemas.microsoft.com/office/drawing/2014/main" id="{52072B9F-2C86-8E85-5C87-189EF8C2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11bc263f502_0_0:notes">
            <a:extLst>
              <a:ext uri="{FF2B5EF4-FFF2-40B4-BE49-F238E27FC236}">
                <a16:creationId xmlns:a16="http://schemas.microsoft.com/office/drawing/2014/main" id="{31E65DE5-47C8-1CB0-63FF-2D40FB813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7" name="Google Shape;3157;g11bc263f502_0_0:notes">
            <a:extLst>
              <a:ext uri="{FF2B5EF4-FFF2-40B4-BE49-F238E27FC236}">
                <a16:creationId xmlns:a16="http://schemas.microsoft.com/office/drawing/2014/main" id="{73EB6B34-9178-C5D4-D5F3-34B30ED99B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035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5">
          <a:extLst>
            <a:ext uri="{FF2B5EF4-FFF2-40B4-BE49-F238E27FC236}">
              <a16:creationId xmlns:a16="http://schemas.microsoft.com/office/drawing/2014/main" id="{F88D482D-F7EC-DC20-5E1C-6BB81961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11bc263f502_0_0:notes">
            <a:extLst>
              <a:ext uri="{FF2B5EF4-FFF2-40B4-BE49-F238E27FC236}">
                <a16:creationId xmlns:a16="http://schemas.microsoft.com/office/drawing/2014/main" id="{F37D806A-C8AF-605F-02A7-9F80FDCDE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7" name="Google Shape;3157;g11bc263f502_0_0:notes">
            <a:extLst>
              <a:ext uri="{FF2B5EF4-FFF2-40B4-BE49-F238E27FC236}">
                <a16:creationId xmlns:a16="http://schemas.microsoft.com/office/drawing/2014/main" id="{A69D87F3-AEC5-C85E-BD93-219F985D9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4102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11bc263f5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7" name="Google Shape;3157;g11bc263f5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1bc263f5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1bc263f5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7">
          <a:extLst>
            <a:ext uri="{FF2B5EF4-FFF2-40B4-BE49-F238E27FC236}">
              <a16:creationId xmlns:a16="http://schemas.microsoft.com/office/drawing/2014/main" id="{32E82B2F-97B7-8D53-2E27-A520D539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1bc263f502_0_13:notes">
            <a:extLst>
              <a:ext uri="{FF2B5EF4-FFF2-40B4-BE49-F238E27FC236}">
                <a16:creationId xmlns:a16="http://schemas.microsoft.com/office/drawing/2014/main" id="{DD135229-7F3F-7355-B1D2-2F98DA9A3D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1bc263f502_0_13:notes">
            <a:extLst>
              <a:ext uri="{FF2B5EF4-FFF2-40B4-BE49-F238E27FC236}">
                <a16:creationId xmlns:a16="http://schemas.microsoft.com/office/drawing/2014/main" id="{4662E6C4-1892-1E8C-64A9-BAC0A56ED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099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503" name="Google Shape;503;p6"/>
          <p:cNvGrpSpPr/>
          <p:nvPr/>
        </p:nvGrpSpPr>
        <p:grpSpPr>
          <a:xfrm>
            <a:off x="8719456" y="513232"/>
            <a:ext cx="326167" cy="2227568"/>
            <a:chOff x="8577956" y="1596694"/>
            <a:chExt cx="326167" cy="2227568"/>
          </a:xfrm>
        </p:grpSpPr>
        <p:sp>
          <p:nvSpPr>
            <p:cNvPr id="504" name="Google Shape;504;p6"/>
            <p:cNvSpPr/>
            <p:nvPr/>
          </p:nvSpPr>
          <p:spPr>
            <a:xfrm rot="5400000">
              <a:off x="8778124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 rot="5400000">
              <a:off x="8577956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 rot="5400000">
              <a:off x="8778124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 rot="5400000">
              <a:off x="8577956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 rot="5400000">
              <a:off x="8778124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 rot="5400000">
              <a:off x="8577956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 rot="5400000">
              <a:off x="8778124" y="31251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 rot="5400000">
              <a:off x="8778124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 rot="5400000">
              <a:off x="8577956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 rot="5400000">
              <a:off x="8778124" y="25519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 rot="5400000">
              <a:off x="8778124" y="216984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 rot="5400000">
              <a:off x="8577956" y="178774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 rot="5400000">
              <a:off x="8778124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 rot="5400000">
              <a:off x="8577956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 rot="5400000">
              <a:off x="8778124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 rot="5400000">
              <a:off x="8577956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0" name="Google Shape;520;p6"/>
          <p:cNvGrpSpPr/>
          <p:nvPr/>
        </p:nvGrpSpPr>
        <p:grpSpPr>
          <a:xfrm rot="-5400000">
            <a:off x="-996100" y="4015385"/>
            <a:ext cx="2227588" cy="726522"/>
            <a:chOff x="3620725" y="372750"/>
            <a:chExt cx="1039375" cy="338989"/>
          </a:xfrm>
        </p:grpSpPr>
        <p:sp>
          <p:nvSpPr>
            <p:cNvPr id="521" name="Google Shape;521;p6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6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6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6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6"/>
          <p:cNvSpPr/>
          <p:nvPr/>
        </p:nvSpPr>
        <p:spPr>
          <a:xfrm rot="1856158" flipH="1">
            <a:off x="-1167632" y="617942"/>
            <a:ext cx="1697013" cy="169701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6"/>
          <p:cNvSpPr/>
          <p:nvPr/>
        </p:nvSpPr>
        <p:spPr>
          <a:xfrm>
            <a:off x="-456125" y="958975"/>
            <a:ext cx="960900" cy="96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6"/>
          <p:cNvSpPr/>
          <p:nvPr/>
        </p:nvSpPr>
        <p:spPr>
          <a:xfrm rot="-5400000" flipH="1">
            <a:off x="5404994" y="4756332"/>
            <a:ext cx="1172100" cy="1172100"/>
          </a:xfrm>
          <a:prstGeom prst="blockArc">
            <a:avLst>
              <a:gd name="adj1" fmla="val 4205957"/>
              <a:gd name="adj2" fmla="val 17987083"/>
              <a:gd name="adj3" fmla="val 3023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6"/>
          <p:cNvSpPr/>
          <p:nvPr/>
        </p:nvSpPr>
        <p:spPr>
          <a:xfrm>
            <a:off x="5451975" y="4826875"/>
            <a:ext cx="837300" cy="83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9"/>
          <p:cNvSpPr txBox="1">
            <a:spLocks noGrp="1"/>
          </p:cNvSpPr>
          <p:nvPr>
            <p:ph type="title"/>
          </p:nvPr>
        </p:nvSpPr>
        <p:spPr>
          <a:xfrm>
            <a:off x="2029075" y="2490350"/>
            <a:ext cx="50859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84" name="Google Shape;784;p9"/>
          <p:cNvSpPr txBox="1">
            <a:spLocks noGrp="1"/>
          </p:cNvSpPr>
          <p:nvPr>
            <p:ph type="subTitle" idx="1"/>
          </p:nvPr>
        </p:nvSpPr>
        <p:spPr>
          <a:xfrm>
            <a:off x="2029075" y="3269253"/>
            <a:ext cx="5085900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85" name="Google Shape;785;p9"/>
          <p:cNvSpPr/>
          <p:nvPr/>
        </p:nvSpPr>
        <p:spPr>
          <a:xfrm rot="-4819752">
            <a:off x="8205757" y="1265550"/>
            <a:ext cx="1585836" cy="1585836"/>
          </a:xfrm>
          <a:prstGeom prst="blockArc">
            <a:avLst>
              <a:gd name="adj1" fmla="val 5958233"/>
              <a:gd name="adj2" fmla="val 2559931"/>
              <a:gd name="adj3" fmla="val 2250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9"/>
          <p:cNvSpPr/>
          <p:nvPr/>
        </p:nvSpPr>
        <p:spPr>
          <a:xfrm rot="-7433688">
            <a:off x="-962871" y="-1484464"/>
            <a:ext cx="3935124" cy="3935124"/>
          </a:xfrm>
          <a:prstGeom prst="blockArc">
            <a:avLst>
              <a:gd name="adj1" fmla="val 5958233"/>
              <a:gd name="adj2" fmla="val 20136020"/>
              <a:gd name="adj3" fmla="val 168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9"/>
          <p:cNvSpPr/>
          <p:nvPr/>
        </p:nvSpPr>
        <p:spPr>
          <a:xfrm rot="-6824316">
            <a:off x="5408227" y="4758274"/>
            <a:ext cx="1270604" cy="1271153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13"/>
          <p:cNvSpPr txBox="1">
            <a:spLocks noGrp="1"/>
          </p:cNvSpPr>
          <p:nvPr>
            <p:ph type="title" idx="2"/>
          </p:nvPr>
        </p:nvSpPr>
        <p:spPr>
          <a:xfrm>
            <a:off x="21318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19" name="Google Shape;919;p13"/>
          <p:cNvSpPr txBox="1">
            <a:spLocks noGrp="1"/>
          </p:cNvSpPr>
          <p:nvPr>
            <p:ph type="subTitle" idx="1"/>
          </p:nvPr>
        </p:nvSpPr>
        <p:spPr>
          <a:xfrm>
            <a:off x="21318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13"/>
          <p:cNvSpPr txBox="1">
            <a:spLocks noGrp="1"/>
          </p:cNvSpPr>
          <p:nvPr>
            <p:ph type="title" idx="3"/>
          </p:nvPr>
        </p:nvSpPr>
        <p:spPr>
          <a:xfrm>
            <a:off x="57923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1" name="Google Shape;921;p13"/>
          <p:cNvSpPr txBox="1">
            <a:spLocks noGrp="1"/>
          </p:cNvSpPr>
          <p:nvPr>
            <p:ph type="subTitle" idx="4"/>
          </p:nvPr>
        </p:nvSpPr>
        <p:spPr>
          <a:xfrm>
            <a:off x="57923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13"/>
          <p:cNvSpPr txBox="1">
            <a:spLocks noGrp="1"/>
          </p:cNvSpPr>
          <p:nvPr>
            <p:ph type="title" idx="5"/>
          </p:nvPr>
        </p:nvSpPr>
        <p:spPr>
          <a:xfrm>
            <a:off x="21318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3" name="Google Shape;923;p13"/>
          <p:cNvSpPr txBox="1">
            <a:spLocks noGrp="1"/>
          </p:cNvSpPr>
          <p:nvPr>
            <p:ph type="subTitle" idx="6"/>
          </p:nvPr>
        </p:nvSpPr>
        <p:spPr>
          <a:xfrm>
            <a:off x="2131850" y="3376625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13"/>
          <p:cNvSpPr txBox="1">
            <a:spLocks noGrp="1"/>
          </p:cNvSpPr>
          <p:nvPr>
            <p:ph type="title" idx="7"/>
          </p:nvPr>
        </p:nvSpPr>
        <p:spPr>
          <a:xfrm>
            <a:off x="57923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5" name="Google Shape;925;p13"/>
          <p:cNvSpPr txBox="1">
            <a:spLocks noGrp="1"/>
          </p:cNvSpPr>
          <p:nvPr>
            <p:ph type="subTitle" idx="8"/>
          </p:nvPr>
        </p:nvSpPr>
        <p:spPr>
          <a:xfrm>
            <a:off x="5792350" y="3376626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13"/>
          <p:cNvSpPr txBox="1">
            <a:spLocks noGrp="1"/>
          </p:cNvSpPr>
          <p:nvPr>
            <p:ph type="title" idx="9" hasCustomPrompt="1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7" name="Google Shape;927;p13"/>
          <p:cNvSpPr txBox="1">
            <a:spLocks noGrp="1"/>
          </p:cNvSpPr>
          <p:nvPr>
            <p:ph type="title" idx="13" hasCustomPrompt="1"/>
          </p:nvPr>
        </p:nvSpPr>
        <p:spPr>
          <a:xfrm>
            <a:off x="1242050" y="32357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8" name="Google Shape;928;p13"/>
          <p:cNvSpPr txBox="1">
            <a:spLocks noGrp="1"/>
          </p:cNvSpPr>
          <p:nvPr>
            <p:ph type="title" idx="14" hasCustomPrompt="1"/>
          </p:nvPr>
        </p:nvSpPr>
        <p:spPr>
          <a:xfrm>
            <a:off x="4902258" y="19497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9" name="Google Shape;929;p13"/>
          <p:cNvSpPr txBox="1">
            <a:spLocks noGrp="1"/>
          </p:cNvSpPr>
          <p:nvPr>
            <p:ph type="title" idx="15" hasCustomPrompt="1"/>
          </p:nvPr>
        </p:nvSpPr>
        <p:spPr>
          <a:xfrm>
            <a:off x="4902258" y="32386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930" name="Google Shape;93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37325" y="3653261"/>
            <a:ext cx="2885125" cy="19214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1" name="Google Shape;931;p13"/>
          <p:cNvGrpSpPr/>
          <p:nvPr/>
        </p:nvGrpSpPr>
        <p:grpSpPr>
          <a:xfrm rot="5400000">
            <a:off x="-1082747" y="1310115"/>
            <a:ext cx="2227588" cy="726522"/>
            <a:chOff x="3857800" y="1143286"/>
            <a:chExt cx="1039375" cy="338989"/>
          </a:xfrm>
        </p:grpSpPr>
        <p:sp>
          <p:nvSpPr>
            <p:cNvPr id="932" name="Google Shape;932;p1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3"/>
          <p:cNvGrpSpPr/>
          <p:nvPr/>
        </p:nvGrpSpPr>
        <p:grpSpPr>
          <a:xfrm flipH="1">
            <a:off x="8430779" y="791666"/>
            <a:ext cx="2227588" cy="726522"/>
            <a:chOff x="3620725" y="372750"/>
            <a:chExt cx="1039375" cy="338989"/>
          </a:xfrm>
        </p:grpSpPr>
        <p:sp>
          <p:nvSpPr>
            <p:cNvPr id="963" name="Google Shape;963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6" name="Google Shape;996;p13"/>
          <p:cNvSpPr/>
          <p:nvPr/>
        </p:nvSpPr>
        <p:spPr>
          <a:xfrm rot="8403335">
            <a:off x="-394847" y="-476389"/>
            <a:ext cx="1410650" cy="1410650"/>
          </a:xfrm>
          <a:prstGeom prst="blockArc">
            <a:avLst>
              <a:gd name="adj1" fmla="val 10800000"/>
              <a:gd name="adj2" fmla="val 138617"/>
              <a:gd name="adj3" fmla="val 2112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3"/>
          <p:cNvSpPr/>
          <p:nvPr/>
        </p:nvSpPr>
        <p:spPr>
          <a:xfrm>
            <a:off x="-395376" y="-2179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8" name="Google Shape;998;p13"/>
          <p:cNvGrpSpPr/>
          <p:nvPr/>
        </p:nvGrpSpPr>
        <p:grpSpPr>
          <a:xfrm>
            <a:off x="7753454" y="-41534"/>
            <a:ext cx="2227588" cy="726522"/>
            <a:chOff x="3620725" y="372750"/>
            <a:chExt cx="1039375" cy="338989"/>
          </a:xfrm>
        </p:grpSpPr>
        <p:sp>
          <p:nvSpPr>
            <p:cNvPr id="999" name="Google Shape;999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6" name="Google Shape;10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50" y="3899975"/>
            <a:ext cx="1041075" cy="109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7" name="Google Shape;1037;p13"/>
          <p:cNvGrpSpPr/>
          <p:nvPr/>
        </p:nvGrpSpPr>
        <p:grpSpPr>
          <a:xfrm>
            <a:off x="782362" y="4049869"/>
            <a:ext cx="317072" cy="126020"/>
            <a:chOff x="4481802" y="1143286"/>
            <a:chExt cx="147943" cy="58800"/>
          </a:xfrm>
        </p:grpSpPr>
        <p:sp>
          <p:nvSpPr>
            <p:cNvPr id="1038" name="Google Shape;10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040;p13"/>
          <p:cNvGrpSpPr/>
          <p:nvPr/>
        </p:nvGrpSpPr>
        <p:grpSpPr>
          <a:xfrm>
            <a:off x="4850553" y="4656385"/>
            <a:ext cx="2227589" cy="726958"/>
            <a:chOff x="6972150" y="711750"/>
            <a:chExt cx="1039375" cy="339193"/>
          </a:xfrm>
        </p:grpSpPr>
        <p:sp>
          <p:nvSpPr>
            <p:cNvPr id="1041" name="Google Shape;1041;p13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3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3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3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3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3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3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3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3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3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3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3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3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3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3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3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3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3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3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3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3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72" name="Google Shape;10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1775" y="280525"/>
            <a:ext cx="923250" cy="12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3"/>
          <p:cNvSpPr/>
          <p:nvPr/>
        </p:nvSpPr>
        <p:spPr>
          <a:xfrm rot="999904">
            <a:off x="3358951" y="4439227"/>
            <a:ext cx="2408148" cy="2408148"/>
          </a:xfrm>
          <a:prstGeom prst="blockArc">
            <a:avLst>
              <a:gd name="adj1" fmla="val 10800000"/>
              <a:gd name="adj2" fmla="val 122097"/>
              <a:gd name="adj3" fmla="val 1551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3_1_1_2"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2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11" name="Google Shape;2111;p25"/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25"/>
          <p:cNvSpPr txBox="1">
            <a:spLocks noGrp="1"/>
          </p:cNvSpPr>
          <p:nvPr>
            <p:ph type="subTitle" idx="2"/>
          </p:nvPr>
        </p:nvSpPr>
        <p:spPr>
          <a:xfrm>
            <a:off x="4770564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3" name="Google Shape;2113;p25"/>
          <p:cNvGrpSpPr/>
          <p:nvPr/>
        </p:nvGrpSpPr>
        <p:grpSpPr>
          <a:xfrm rot="5400000">
            <a:off x="-716077" y="3282010"/>
            <a:ext cx="2227568" cy="326604"/>
            <a:chOff x="5911703" y="-1770615"/>
            <a:chExt cx="2227568" cy="326604"/>
          </a:xfrm>
        </p:grpSpPr>
        <p:sp>
          <p:nvSpPr>
            <p:cNvPr id="2114" name="Google Shape;2114;p25"/>
            <p:cNvSpPr/>
            <p:nvPr/>
          </p:nvSpPr>
          <p:spPr>
            <a:xfrm>
              <a:off x="8013271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7631168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724906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705801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610275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6293806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1170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782221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801327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7249064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744011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705801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667590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686696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6484858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629380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1170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1" name="Google Shape;2131;p25"/>
          <p:cNvSpPr/>
          <p:nvPr/>
        </p:nvSpPr>
        <p:spPr>
          <a:xfrm rot="8223760" flipH="1">
            <a:off x="8066614" y="3302903"/>
            <a:ext cx="1986206" cy="1986646"/>
          </a:xfrm>
          <a:prstGeom prst="blockArc">
            <a:avLst>
              <a:gd name="adj1" fmla="val 5100224"/>
              <a:gd name="adj2" fmla="val 16890590"/>
              <a:gd name="adj3" fmla="val 2586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25"/>
          <p:cNvSpPr/>
          <p:nvPr/>
        </p:nvSpPr>
        <p:spPr>
          <a:xfrm rot="8223572" flipH="1">
            <a:off x="8098025" y="3495149"/>
            <a:ext cx="1534706" cy="153472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25"/>
          <p:cNvSpPr/>
          <p:nvPr/>
        </p:nvSpPr>
        <p:spPr>
          <a:xfrm rot="656896" flipH="1">
            <a:off x="-1466385" y="950324"/>
            <a:ext cx="2255655" cy="2255712"/>
          </a:xfrm>
          <a:prstGeom prst="blockArc">
            <a:avLst>
              <a:gd name="adj1" fmla="val 5100224"/>
              <a:gd name="adj2" fmla="val 17105252"/>
              <a:gd name="adj3" fmla="val 229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p25"/>
          <p:cNvSpPr/>
          <p:nvPr/>
        </p:nvSpPr>
        <p:spPr>
          <a:xfrm rot="656663" flipH="1">
            <a:off x="-951810" y="1473801"/>
            <a:ext cx="1742900" cy="174295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5" name="Google Shape;2135;p25"/>
          <p:cNvGrpSpPr/>
          <p:nvPr/>
        </p:nvGrpSpPr>
        <p:grpSpPr>
          <a:xfrm rot="-5400000" flipH="1">
            <a:off x="7876900" y="1636706"/>
            <a:ext cx="2036537" cy="726522"/>
            <a:chOff x="5697593" y="1680311"/>
            <a:chExt cx="950232" cy="338989"/>
          </a:xfrm>
        </p:grpSpPr>
        <p:sp>
          <p:nvSpPr>
            <p:cNvPr id="2136" name="Google Shape;2136;p25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5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5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5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5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5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flipH="1">
            <a:off x="-381821" y="-103359"/>
            <a:ext cx="2227588" cy="726522"/>
            <a:chOff x="3620725" y="372750"/>
            <a:chExt cx="1039375" cy="338989"/>
          </a:xfrm>
        </p:grpSpPr>
        <p:sp>
          <p:nvSpPr>
            <p:cNvPr id="2167" name="Google Shape;2167;p25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5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5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5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5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5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5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5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5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5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5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5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5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5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5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5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5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5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5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5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5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5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5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5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5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5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5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5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04" name="Google Shape;22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34597" y="3947683"/>
            <a:ext cx="665700" cy="1111385"/>
          </a:xfrm>
          <a:prstGeom prst="rect">
            <a:avLst/>
          </a:prstGeom>
          <a:noFill/>
          <a:ln>
            <a:noFill/>
          </a:ln>
        </p:spPr>
      </p:pic>
      <p:sp>
        <p:nvSpPr>
          <p:cNvPr id="2205" name="Google Shape;2205;p25"/>
          <p:cNvSpPr/>
          <p:nvPr/>
        </p:nvSpPr>
        <p:spPr>
          <a:xfrm rot="-4743008" flipH="1">
            <a:off x="936100" y="4678764"/>
            <a:ext cx="2593314" cy="2593371"/>
          </a:xfrm>
          <a:prstGeom prst="blockArc">
            <a:avLst>
              <a:gd name="adj1" fmla="val 5100224"/>
              <a:gd name="adj2" fmla="val 16747037"/>
              <a:gd name="adj3" fmla="val 1124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25"/>
          <p:cNvSpPr/>
          <p:nvPr/>
        </p:nvSpPr>
        <p:spPr>
          <a:xfrm rot="-4743408" flipH="1">
            <a:off x="1537977" y="4676626"/>
            <a:ext cx="2003838" cy="200389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_1_1"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2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209" name="Google Shape;2209;p26"/>
          <p:cNvSpPr txBox="1">
            <a:spLocks noGrp="1"/>
          </p:cNvSpPr>
          <p:nvPr>
            <p:ph type="title" idx="2"/>
          </p:nvPr>
        </p:nvSpPr>
        <p:spPr>
          <a:xfrm>
            <a:off x="1099200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0" name="Google Shape;2210;p26"/>
          <p:cNvSpPr txBox="1">
            <a:spLocks noGrp="1"/>
          </p:cNvSpPr>
          <p:nvPr>
            <p:ph type="subTitle" idx="1"/>
          </p:nvPr>
        </p:nvSpPr>
        <p:spPr>
          <a:xfrm>
            <a:off x="1099200" y="3370599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1" name="Google Shape;2211;p26"/>
          <p:cNvSpPr txBox="1">
            <a:spLocks noGrp="1"/>
          </p:cNvSpPr>
          <p:nvPr>
            <p:ph type="title" idx="3"/>
          </p:nvPr>
        </p:nvSpPr>
        <p:spPr>
          <a:xfrm>
            <a:off x="3528012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2" name="Google Shape;2212;p26"/>
          <p:cNvSpPr txBox="1">
            <a:spLocks noGrp="1"/>
          </p:cNvSpPr>
          <p:nvPr>
            <p:ph type="subTitle" idx="4"/>
          </p:nvPr>
        </p:nvSpPr>
        <p:spPr>
          <a:xfrm>
            <a:off x="3528012" y="3370600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3" name="Google Shape;2213;p26"/>
          <p:cNvSpPr txBox="1">
            <a:spLocks noGrp="1"/>
          </p:cNvSpPr>
          <p:nvPr>
            <p:ph type="title" idx="5"/>
          </p:nvPr>
        </p:nvSpPr>
        <p:spPr>
          <a:xfrm>
            <a:off x="5956750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4" name="Google Shape;2214;p26"/>
          <p:cNvSpPr txBox="1">
            <a:spLocks noGrp="1"/>
          </p:cNvSpPr>
          <p:nvPr>
            <p:ph type="subTitle" idx="6"/>
          </p:nvPr>
        </p:nvSpPr>
        <p:spPr>
          <a:xfrm>
            <a:off x="5956750" y="3370600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5" name="Google Shape;2215;p26"/>
          <p:cNvGrpSpPr/>
          <p:nvPr/>
        </p:nvGrpSpPr>
        <p:grpSpPr>
          <a:xfrm>
            <a:off x="7130578" y="4680303"/>
            <a:ext cx="2227588" cy="726522"/>
            <a:chOff x="3857800" y="1143286"/>
            <a:chExt cx="1039375" cy="338989"/>
          </a:xfrm>
        </p:grpSpPr>
        <p:sp>
          <p:nvSpPr>
            <p:cNvPr id="2216" name="Google Shape;2216;p26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6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6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6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6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6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6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6" name="Google Shape;2246;p26"/>
          <p:cNvGrpSpPr/>
          <p:nvPr/>
        </p:nvGrpSpPr>
        <p:grpSpPr>
          <a:xfrm>
            <a:off x="-254692" y="-76870"/>
            <a:ext cx="2227588" cy="726522"/>
            <a:chOff x="5608450" y="1680311"/>
            <a:chExt cx="1039375" cy="338989"/>
          </a:xfrm>
        </p:grpSpPr>
        <p:sp>
          <p:nvSpPr>
            <p:cNvPr id="2247" name="Google Shape;2247;p26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6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6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26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26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6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6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6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6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6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6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26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26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26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26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26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26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26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26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6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6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6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3" name="Google Shape;2283;p26"/>
          <p:cNvSpPr/>
          <p:nvPr/>
        </p:nvSpPr>
        <p:spPr>
          <a:xfrm rot="-1856039">
            <a:off x="8454804" y="2577737"/>
            <a:ext cx="2574846" cy="2574846"/>
          </a:xfrm>
          <a:prstGeom prst="blockArc">
            <a:avLst>
              <a:gd name="adj1" fmla="val 5958233"/>
              <a:gd name="adj2" fmla="val 17338531"/>
              <a:gd name="adj3" fmla="val 848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4" name="Google Shape;2284;p26"/>
          <p:cNvSpPr/>
          <p:nvPr/>
        </p:nvSpPr>
        <p:spPr>
          <a:xfrm>
            <a:off x="8472788" y="25100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5" name="Google Shape;2285;p26"/>
          <p:cNvSpPr/>
          <p:nvPr/>
        </p:nvSpPr>
        <p:spPr>
          <a:xfrm rot="1856039" flipH="1">
            <a:off x="-1791221" y="147812"/>
            <a:ext cx="2574846" cy="2574846"/>
          </a:xfrm>
          <a:prstGeom prst="blockArc">
            <a:avLst>
              <a:gd name="adj1" fmla="val 5958233"/>
              <a:gd name="adj2" fmla="val 17474158"/>
              <a:gd name="adj3" fmla="val 1592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6" name="Google Shape;2286;p26"/>
          <p:cNvSpPr/>
          <p:nvPr/>
        </p:nvSpPr>
        <p:spPr>
          <a:xfrm flipH="1">
            <a:off x="-1205123" y="422875"/>
            <a:ext cx="2118000" cy="2118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26"/>
          <p:cNvSpPr/>
          <p:nvPr/>
        </p:nvSpPr>
        <p:spPr>
          <a:xfrm>
            <a:off x="6337536" y="4893650"/>
            <a:ext cx="1326600" cy="132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8" name="Google Shape;2288;p26"/>
          <p:cNvGrpSpPr/>
          <p:nvPr/>
        </p:nvGrpSpPr>
        <p:grpSpPr>
          <a:xfrm>
            <a:off x="282666" y="4529415"/>
            <a:ext cx="485944" cy="339170"/>
            <a:chOff x="5265975" y="1869575"/>
            <a:chExt cx="269400" cy="128825"/>
          </a:xfrm>
        </p:grpSpPr>
        <p:cxnSp>
          <p:nvCxnSpPr>
            <p:cNvPr id="2289" name="Google Shape;2289;p26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0" name="Google Shape;2290;p26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1" name="Google Shape;2291;p26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2" name="Google Shape;2292;p26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3" name="Google Shape;2293;p26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28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85" name="Google Shape;2385;p28"/>
          <p:cNvSpPr txBox="1">
            <a:spLocks noGrp="1"/>
          </p:cNvSpPr>
          <p:nvPr>
            <p:ph type="title" idx="2"/>
          </p:nvPr>
        </p:nvSpPr>
        <p:spPr>
          <a:xfrm>
            <a:off x="1015475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6" name="Google Shape;2386;p28"/>
          <p:cNvSpPr txBox="1">
            <a:spLocks noGrp="1"/>
          </p:cNvSpPr>
          <p:nvPr>
            <p:ph type="subTitle" idx="1"/>
          </p:nvPr>
        </p:nvSpPr>
        <p:spPr>
          <a:xfrm>
            <a:off x="1015475" y="3696599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7" name="Google Shape;2387;p28"/>
          <p:cNvSpPr txBox="1">
            <a:spLocks noGrp="1"/>
          </p:cNvSpPr>
          <p:nvPr>
            <p:ph type="title" idx="3"/>
          </p:nvPr>
        </p:nvSpPr>
        <p:spPr>
          <a:xfrm>
            <a:off x="3671479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8" name="Google Shape;2388;p28"/>
          <p:cNvSpPr txBox="1">
            <a:spLocks noGrp="1"/>
          </p:cNvSpPr>
          <p:nvPr>
            <p:ph type="subTitle" idx="4"/>
          </p:nvPr>
        </p:nvSpPr>
        <p:spPr>
          <a:xfrm>
            <a:off x="3671479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9" name="Google Shape;2389;p28"/>
          <p:cNvSpPr txBox="1">
            <a:spLocks noGrp="1"/>
          </p:cNvSpPr>
          <p:nvPr>
            <p:ph type="title" idx="5"/>
          </p:nvPr>
        </p:nvSpPr>
        <p:spPr>
          <a:xfrm>
            <a:off x="6327467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0" name="Google Shape;2390;p28"/>
          <p:cNvSpPr txBox="1">
            <a:spLocks noGrp="1"/>
          </p:cNvSpPr>
          <p:nvPr>
            <p:ph type="subTitle" idx="6"/>
          </p:nvPr>
        </p:nvSpPr>
        <p:spPr>
          <a:xfrm>
            <a:off x="6327467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1" name="Google Shape;2391;p28"/>
          <p:cNvSpPr txBox="1">
            <a:spLocks noGrp="1"/>
          </p:cNvSpPr>
          <p:nvPr>
            <p:ph type="title" idx="7"/>
          </p:nvPr>
        </p:nvSpPr>
        <p:spPr>
          <a:xfrm>
            <a:off x="1015475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2" name="Google Shape;2392;p28"/>
          <p:cNvSpPr txBox="1">
            <a:spLocks noGrp="1"/>
          </p:cNvSpPr>
          <p:nvPr>
            <p:ph type="subTitle" idx="8"/>
          </p:nvPr>
        </p:nvSpPr>
        <p:spPr>
          <a:xfrm>
            <a:off x="1015475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3" name="Google Shape;2393;p28"/>
          <p:cNvSpPr txBox="1">
            <a:spLocks noGrp="1"/>
          </p:cNvSpPr>
          <p:nvPr>
            <p:ph type="title" idx="9"/>
          </p:nvPr>
        </p:nvSpPr>
        <p:spPr>
          <a:xfrm>
            <a:off x="3671479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4" name="Google Shape;2394;p28"/>
          <p:cNvSpPr txBox="1">
            <a:spLocks noGrp="1"/>
          </p:cNvSpPr>
          <p:nvPr>
            <p:ph type="subTitle" idx="13"/>
          </p:nvPr>
        </p:nvSpPr>
        <p:spPr>
          <a:xfrm>
            <a:off x="3671479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5" name="Google Shape;2395;p28"/>
          <p:cNvSpPr txBox="1">
            <a:spLocks noGrp="1"/>
          </p:cNvSpPr>
          <p:nvPr>
            <p:ph type="title" idx="14"/>
          </p:nvPr>
        </p:nvSpPr>
        <p:spPr>
          <a:xfrm>
            <a:off x="6327467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6" name="Google Shape;2396;p28"/>
          <p:cNvSpPr txBox="1">
            <a:spLocks noGrp="1"/>
          </p:cNvSpPr>
          <p:nvPr>
            <p:ph type="subTitle" idx="15"/>
          </p:nvPr>
        </p:nvSpPr>
        <p:spPr>
          <a:xfrm>
            <a:off x="6327467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7" name="Google Shape;2397;p28"/>
          <p:cNvSpPr/>
          <p:nvPr/>
        </p:nvSpPr>
        <p:spPr>
          <a:xfrm rot="-4499800" flipH="1">
            <a:off x="8145920" y="4621513"/>
            <a:ext cx="1939931" cy="1939931"/>
          </a:xfrm>
          <a:prstGeom prst="blockArc">
            <a:avLst>
              <a:gd name="adj1" fmla="val 5958233"/>
              <a:gd name="adj2" fmla="val 17385308"/>
              <a:gd name="adj3" fmla="val 20382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8" name="Google Shape;2398;p28"/>
          <p:cNvGrpSpPr/>
          <p:nvPr/>
        </p:nvGrpSpPr>
        <p:grpSpPr>
          <a:xfrm>
            <a:off x="6046058" y="4642569"/>
            <a:ext cx="2227568" cy="326167"/>
            <a:chOff x="2570033" y="6824869"/>
            <a:chExt cx="2227568" cy="326167"/>
          </a:xfrm>
        </p:grpSpPr>
        <p:sp>
          <p:nvSpPr>
            <p:cNvPr id="2399" name="Google Shape;2399;p28"/>
            <p:cNvSpPr/>
            <p:nvPr/>
          </p:nvSpPr>
          <p:spPr>
            <a:xfrm>
              <a:off x="4480549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4671601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3907394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4098446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3716343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3716343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3334239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3334239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3525291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3525291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3143188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761084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952136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952136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570033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570033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5" name="Google Shape;2415;p28"/>
          <p:cNvGrpSpPr/>
          <p:nvPr/>
        </p:nvGrpSpPr>
        <p:grpSpPr>
          <a:xfrm rot="5400000" flipH="1">
            <a:off x="-759306" y="2004490"/>
            <a:ext cx="2227588" cy="726522"/>
            <a:chOff x="3857800" y="1143286"/>
            <a:chExt cx="1039375" cy="338989"/>
          </a:xfrm>
        </p:grpSpPr>
        <p:sp>
          <p:nvSpPr>
            <p:cNvPr id="2416" name="Google Shape;2416;p28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8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8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8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8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8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8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8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8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8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8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8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8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8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8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8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8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28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28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28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8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8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8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8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8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8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8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8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8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5" name="Google Shape;2445;p28"/>
          <p:cNvSpPr/>
          <p:nvPr/>
        </p:nvSpPr>
        <p:spPr>
          <a:xfrm rot="900224" flipH="1">
            <a:off x="-2339988" y="124094"/>
            <a:ext cx="3016433" cy="3016433"/>
          </a:xfrm>
          <a:prstGeom prst="blockArc">
            <a:avLst>
              <a:gd name="adj1" fmla="val 5958233"/>
              <a:gd name="adj2" fmla="val 17310751"/>
              <a:gd name="adj3" fmla="val 85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6" name="Google Shape;2446;p28"/>
          <p:cNvSpPr/>
          <p:nvPr/>
        </p:nvSpPr>
        <p:spPr>
          <a:xfrm>
            <a:off x="-320815" y="-554925"/>
            <a:ext cx="1224600" cy="1225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7" name="Google Shape;2447;p28"/>
          <p:cNvSpPr/>
          <p:nvPr/>
        </p:nvSpPr>
        <p:spPr>
          <a:xfrm flipH="1">
            <a:off x="8212786" y="4580724"/>
            <a:ext cx="16089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8" name="Google Shape;2448;p28"/>
          <p:cNvSpPr/>
          <p:nvPr/>
        </p:nvSpPr>
        <p:spPr>
          <a:xfrm>
            <a:off x="8634823" y="1282193"/>
            <a:ext cx="1409100" cy="1409100"/>
          </a:xfrm>
          <a:prstGeom prst="blockArc">
            <a:avLst>
              <a:gd name="adj1" fmla="val 2709197"/>
              <a:gd name="adj2" fmla="val 16176137"/>
              <a:gd name="adj3" fmla="val 2610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9" name="Google Shape;2449;p28"/>
          <p:cNvSpPr/>
          <p:nvPr/>
        </p:nvSpPr>
        <p:spPr>
          <a:xfrm flipH="1">
            <a:off x="8400260" y="365000"/>
            <a:ext cx="2140200" cy="2141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0" name="Google Shape;2450;p28"/>
          <p:cNvGrpSpPr/>
          <p:nvPr/>
        </p:nvGrpSpPr>
        <p:grpSpPr>
          <a:xfrm rot="-5400000">
            <a:off x="7731943" y="2532269"/>
            <a:ext cx="2227588" cy="726522"/>
            <a:chOff x="3799000" y="1820400"/>
            <a:chExt cx="1039375" cy="338989"/>
          </a:xfrm>
        </p:grpSpPr>
        <p:sp>
          <p:nvSpPr>
            <p:cNvPr id="2451" name="Google Shape;2451;p2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33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862" name="Google Shape;2862;p3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2" name="Google Shape;2892;p33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893" name="Google Shape;2893;p3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0" name="Google Shape;2960;p33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33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3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4" name="Google Shape;2964;p3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2965" name="Google Shape;2965;p3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2" name="Google Shape;3032;p3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3033" name="Google Shape;3033;p3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9" name="Google Shape;3069;p3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0" name="Google Shape;307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3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3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3" name="Google Shape;3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3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3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6" name="Google Shape;30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Google Shape;30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5650-9307-A94F-15FF-9915FB103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66595-8532-980A-485A-F8AA65915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AAD30-A01D-9A7B-86FA-FCFBF1850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41002-A95E-4956-7783-D2375680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90498-F12B-AE21-F491-0461FC86D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7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B1AE-E7B6-A372-120D-F1116149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BD1AD-B6D9-6D69-09D6-5A08BA0E9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B98A0-69E5-575F-D66F-2FB85CDAC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54487-2542-3C02-50BD-B40C715F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0A50-4C01-F761-95F0-EC40F0FB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A3403-3F90-1E3D-5E61-BD3E529FE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B65FF-31C8-738C-3909-4A2AD435F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86588-F0DF-24A5-0039-93D9525C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5F959-8782-C4D7-EFA4-444D3E2E8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2C64-5836-3528-1B9B-729154B7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8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4A5E1-F457-A6C5-8204-8C4714C3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6DC06-4835-5994-9FAC-512E0EFCF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612EC-33F3-8146-0477-E956C3354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1C1A6-C39C-F43A-ED0A-792A87A2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E9002-5529-C4DE-C458-71BFC50C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AE6E7-1FF8-9976-9E64-CAAF365A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22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3877-3965-A1EE-AE87-D1490EBED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BE277-3E1E-DFCE-F885-D3041A849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FDE61-ECB3-F9F6-6B65-AB64B17BE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B8296-2C86-4229-F5DF-EC8227324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584CC-C8E3-3EAA-E2AA-0297A65CC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ECD10A-2D95-5620-EC0B-F834E9E32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1ED26-FD23-C221-8D69-4110A26DC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B22930-6F45-906C-928A-16BBD29D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26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35B6-0E93-0348-62B2-5FBF7D3F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40931-6152-43E3-81B8-25D03413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35F7C5-3DA7-40C1-A06F-ED6980C1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6E472-1651-7586-5515-C3A0E8CC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39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A6487A-2269-E16F-A289-AD28861A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7B00A-95D3-AF38-C2D5-58FA967CA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71EA7-771C-F0CE-8F7E-16B7C8C2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70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AA47-3312-0E3E-575F-2EAB434F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C1DB7-6D85-1CCE-EA87-D95D29B53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5A43F-3492-245C-C3FD-674AD1F2E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C33BB-0396-B479-2C98-F43E634F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D0386-AE5A-04D1-AEE2-7CE16DF6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B09AB-37CF-00AB-C008-F3048DD2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62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30C8-D317-6A87-18FF-604C3A6B9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D1B83-7FD1-95C4-571A-0535FFFB1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E2A33-8823-3B5A-E75E-FFDED2935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38215-B108-4D04-0974-F2363F516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59713-5266-2A09-7FDC-3F7FA5C9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05D52-1B58-6948-E75F-18700977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599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BBF5-CE64-95FA-7A65-B4A45C5B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34461-478F-8AB5-E4B4-58605B955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AE60C-C700-D160-02F8-A9C40B0C8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39AEB-F997-4A1F-85F4-86BC2C2C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66305-9DB8-FC6F-141E-F49FD521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55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46744-45A3-7870-3433-5DF131DD1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AB3CA-DC5E-AC73-8F6C-E25AF7155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BDEF7-46C0-DDE4-D9D3-DD16C26E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DC8F1-71EF-ED7D-DD90-C7D5D404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68FBD-8A2E-44A5-B558-CFD63A1E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3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5" r:id="rId2"/>
    <p:sldLayoutId id="2147483658" r:id="rId3"/>
    <p:sldLayoutId id="2147483659" r:id="rId4"/>
    <p:sldLayoutId id="2147483671" r:id="rId5"/>
    <p:sldLayoutId id="2147483672" r:id="rId6"/>
    <p:sldLayoutId id="2147483674" r:id="rId7"/>
    <p:sldLayoutId id="2147483679" r:id="rId8"/>
    <p:sldLayoutId id="214748368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7B8E3E-6862-A26B-1847-E0A96452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247C0-3045-D4C1-5D38-AED238572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03860-6683-B863-4947-8C73FD7AC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A0901-02AF-4503-A1D2-E5D4BE99D16B}" type="datetimeFigureOut">
              <a:rPr lang="en-US" smtClean="0"/>
              <a:t>02/02/2026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EC29A-97EE-31F6-3412-46AE90D77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F6538-E079-5CE2-FD59-8817951BC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C4A21-2605-46A3-86B9-2EE613F14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8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9F8B-6389-6886-56F2-38E6C022A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683" y="1489328"/>
            <a:ext cx="7029915" cy="2343455"/>
          </a:xfrm>
        </p:spPr>
        <p:txBody>
          <a:bodyPr/>
          <a:lstStyle/>
          <a:p>
            <a:r>
              <a:rPr lang="en-US" sz="4400" dirty="0">
                <a:latin typeface="Advent Pro" panose="020B0604020202020204" charset="-18"/>
              </a:rPr>
              <a:t>Analiza </a:t>
            </a:r>
            <a:r>
              <a:rPr lang="en-US" sz="4400" dirty="0" err="1">
                <a:latin typeface="Advent Pro" panose="020B0604020202020204" charset="-18"/>
              </a:rPr>
              <a:t>i</a:t>
            </a:r>
            <a:r>
              <a:rPr lang="en-US" sz="4400" dirty="0">
                <a:latin typeface="Advent Pro" panose="020B0604020202020204" charset="-18"/>
              </a:rPr>
              <a:t> </a:t>
            </a:r>
            <a:r>
              <a:rPr lang="en-US" sz="4400" dirty="0" err="1">
                <a:latin typeface="Advent Pro" panose="020B0604020202020204" charset="-18"/>
              </a:rPr>
              <a:t>detekcija</a:t>
            </a:r>
            <a:r>
              <a:rPr lang="en-US" sz="4400" dirty="0">
                <a:latin typeface="Advent Pro" panose="020B0604020202020204" charset="-18"/>
              </a:rPr>
              <a:t> </a:t>
            </a:r>
            <a:r>
              <a:rPr lang="en-US" sz="4400" dirty="0" err="1">
                <a:latin typeface="Advent Pro" panose="020B0604020202020204" charset="-18"/>
              </a:rPr>
              <a:t>enkripcije</a:t>
            </a:r>
            <a:r>
              <a:rPr lang="en-US" sz="4400" dirty="0">
                <a:latin typeface="Advent Pro" panose="020B0604020202020204" charset="-18"/>
              </a:rPr>
              <a:t> u </a:t>
            </a:r>
            <a:r>
              <a:rPr lang="en-US" sz="4400" dirty="0" err="1">
                <a:latin typeface="Advent Pro" panose="020B0604020202020204" charset="-18"/>
              </a:rPr>
              <a:t>fajl</a:t>
            </a:r>
            <a:r>
              <a:rPr lang="en-US" sz="4400" dirty="0">
                <a:latin typeface="Advent Pro" panose="020B0604020202020204" charset="-18"/>
              </a:rPr>
              <a:t> </a:t>
            </a:r>
            <a:r>
              <a:rPr lang="en-US" sz="4400" dirty="0" err="1">
                <a:latin typeface="Advent Pro" panose="020B0604020202020204" charset="-18"/>
              </a:rPr>
              <a:t>sistemu</a:t>
            </a:r>
            <a:r>
              <a:rPr lang="en-US" sz="4400" dirty="0">
                <a:latin typeface="Advent Pro" panose="020B0604020202020204" charset="-18"/>
              </a:rPr>
              <a:t> </a:t>
            </a:r>
            <a:r>
              <a:rPr lang="en-US" sz="4400" dirty="0" err="1">
                <a:latin typeface="Advent Pro" panose="020B0604020202020204" charset="-18"/>
              </a:rPr>
              <a:t>pomoću</a:t>
            </a:r>
            <a:r>
              <a:rPr lang="en-US" sz="4400" dirty="0">
                <a:latin typeface="Advent Pro" panose="020B0604020202020204" charset="-18"/>
              </a:rPr>
              <a:t> </a:t>
            </a:r>
            <a:r>
              <a:rPr lang="en-US" sz="4400" dirty="0" err="1">
                <a:latin typeface="Advent Pro" panose="020B0604020202020204" charset="-18"/>
              </a:rPr>
              <a:t>Šenonove</a:t>
            </a:r>
            <a:r>
              <a:rPr lang="en-US" sz="4400" dirty="0">
                <a:latin typeface="Advent Pro" panose="020B0604020202020204" charset="-18"/>
              </a:rPr>
              <a:t> </a:t>
            </a:r>
            <a:r>
              <a:rPr lang="en-US" sz="4400" dirty="0" err="1">
                <a:latin typeface="Advent Pro" panose="020B0604020202020204" charset="-18"/>
              </a:rPr>
              <a:t>entropije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35C3F-CFDD-D9E1-2933-540E858E3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591877"/>
            <a:ext cx="3592004" cy="551623"/>
          </a:xfrm>
        </p:spPr>
        <p:txBody>
          <a:bodyPr/>
          <a:lstStyle/>
          <a:p>
            <a:r>
              <a:rPr lang="en-US" sz="2000" b="1" dirty="0"/>
              <a:t>Radonjic Visnja 2023201114 </a:t>
            </a:r>
          </a:p>
          <a:p>
            <a:endParaRPr lang="en-US" dirty="0"/>
          </a:p>
        </p:txBody>
      </p:sp>
      <p:pic>
        <p:nvPicPr>
          <p:cNvPr id="4" name="Google Shape;3151;p38">
            <a:extLst>
              <a:ext uri="{FF2B5EF4-FFF2-40B4-BE49-F238E27FC236}">
                <a16:creationId xmlns:a16="http://schemas.microsoft.com/office/drawing/2014/main" id="{11F83F04-8483-2F05-4C36-B93B21347A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74780" y="2023140"/>
            <a:ext cx="1796913" cy="284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152;p38">
            <a:extLst>
              <a:ext uri="{FF2B5EF4-FFF2-40B4-BE49-F238E27FC236}">
                <a16:creationId xmlns:a16="http://schemas.microsoft.com/office/drawing/2014/main" id="{13035676-50A8-705D-7EE9-5D73542567D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0820" y="3374127"/>
            <a:ext cx="923250" cy="1217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3411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CC37-3EF2-E281-405B-2C463AF8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0479" y="171297"/>
            <a:ext cx="5085900" cy="831300"/>
          </a:xfrm>
        </p:spPr>
        <p:txBody>
          <a:bodyPr/>
          <a:lstStyle/>
          <a:p>
            <a:r>
              <a:rPr lang="en-US" dirty="0">
                <a:latin typeface="Advent Pro" panose="020B0604020202020204" charset="-18"/>
              </a:rPr>
              <a:t>UVOD I CILJ RADA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3E6FA-A157-4CB1-D432-2DE8D2C56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716" y="1208160"/>
            <a:ext cx="6009189" cy="355395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Identifikacija</a:t>
            </a:r>
            <a:r>
              <a:rPr lang="en-US" sz="22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"</a:t>
            </a:r>
            <a:r>
              <a:rPr lang="en-US" sz="22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statističkog</a:t>
            </a:r>
            <a:r>
              <a:rPr lang="en-US" sz="22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potpisa</a:t>
            </a:r>
            <a:r>
              <a:rPr lang="en-US" sz="22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“ :</a:t>
            </a:r>
            <a:r>
              <a:rPr lang="en-US" sz="2200" dirty="0"/>
              <a:t> </a:t>
            </a:r>
            <a:r>
              <a:rPr lang="en-US" sz="2200" dirty="0" err="1"/>
              <a:t>Svaki</a:t>
            </a:r>
            <a:r>
              <a:rPr lang="en-US" sz="2200" dirty="0"/>
              <a:t> tip </a:t>
            </a:r>
            <a:r>
              <a:rPr lang="en-US" sz="2200" dirty="0" err="1"/>
              <a:t>podataka</a:t>
            </a:r>
            <a:r>
              <a:rPr lang="en-US" sz="2200" dirty="0"/>
              <a:t> </a:t>
            </a:r>
            <a:r>
              <a:rPr lang="en-US" sz="2200" dirty="0" err="1"/>
              <a:t>ima</a:t>
            </a:r>
            <a:r>
              <a:rPr lang="en-US" sz="2200" dirty="0"/>
              <a:t> </a:t>
            </a:r>
            <a:r>
              <a:rPr lang="en-US" sz="2200" dirty="0" err="1"/>
              <a:t>specifičnu</a:t>
            </a:r>
            <a:r>
              <a:rPr lang="en-US" sz="2200" dirty="0"/>
              <a:t> </a:t>
            </a:r>
            <a:r>
              <a:rPr lang="en-US" sz="2200" dirty="0" err="1"/>
              <a:t>strukturu</a:t>
            </a:r>
            <a:r>
              <a:rPr lang="en-US" sz="2200" dirty="0"/>
              <a:t> pre </a:t>
            </a:r>
            <a:r>
              <a:rPr lang="en-US" sz="2200" dirty="0" err="1"/>
              <a:t>enkripcije</a:t>
            </a:r>
            <a:r>
              <a:rPr lang="en-US" sz="22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Neutralizacija</a:t>
            </a:r>
            <a:r>
              <a:rPr lang="en-US" sz="22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obrazaca</a:t>
            </a:r>
            <a:r>
              <a:rPr lang="en-US" sz="22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:</a:t>
            </a:r>
            <a:r>
              <a:rPr lang="en-US" sz="2200" dirty="0"/>
              <a:t> </a:t>
            </a:r>
            <a:r>
              <a:rPr lang="en-US" sz="2200" dirty="0" err="1"/>
              <a:t>Cilj</a:t>
            </a:r>
            <a:r>
              <a:rPr lang="en-US" sz="2200" dirty="0"/>
              <a:t> je </a:t>
            </a:r>
            <a:r>
              <a:rPr lang="en-US" sz="2200" dirty="0" err="1"/>
              <a:t>transformacija</a:t>
            </a:r>
            <a:r>
              <a:rPr lang="en-US" sz="2200" dirty="0"/>
              <a:t> </a:t>
            </a:r>
            <a:r>
              <a:rPr lang="en-US" sz="2200" dirty="0" err="1"/>
              <a:t>prepoznatljivih</a:t>
            </a:r>
            <a:r>
              <a:rPr lang="en-US" sz="2200" dirty="0"/>
              <a:t> </a:t>
            </a:r>
            <a:r>
              <a:rPr lang="en-US" sz="2200" dirty="0" err="1"/>
              <a:t>podataka</a:t>
            </a:r>
            <a:r>
              <a:rPr lang="en-US" sz="2200" dirty="0"/>
              <a:t> u </a:t>
            </a:r>
            <a:r>
              <a:rPr lang="en-US" sz="2200" dirty="0" err="1"/>
              <a:t>informacioni</a:t>
            </a:r>
            <a:r>
              <a:rPr lang="en-US" sz="2200" dirty="0"/>
              <a:t> </a:t>
            </a:r>
            <a:r>
              <a:rPr lang="en-US" sz="2200" dirty="0" err="1"/>
              <a:t>haos</a:t>
            </a:r>
            <a:r>
              <a:rPr lang="en-US" sz="22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Provera </a:t>
            </a:r>
            <a:r>
              <a:rPr lang="en-US" sz="22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kriptografske</a:t>
            </a:r>
            <a:r>
              <a:rPr lang="en-US" sz="22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2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otpornosti</a:t>
            </a:r>
            <a:r>
              <a:rPr lang="en-US" sz="22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2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:</a:t>
            </a:r>
            <a:r>
              <a:rPr lang="en-US" sz="2200" dirty="0"/>
              <a:t> </a:t>
            </a:r>
            <a:r>
              <a:rPr lang="en-US" sz="2200" dirty="0" err="1"/>
              <a:t>Merenje</a:t>
            </a:r>
            <a:r>
              <a:rPr lang="en-US" sz="2200" dirty="0"/>
              <a:t> </a:t>
            </a:r>
            <a:r>
              <a:rPr lang="en-US" sz="2200" dirty="0" err="1"/>
              <a:t>efikasnosti</a:t>
            </a:r>
            <a:r>
              <a:rPr lang="en-US" sz="2200" dirty="0"/>
              <a:t> AES </a:t>
            </a:r>
            <a:r>
              <a:rPr lang="en-US" sz="2200" dirty="0" err="1"/>
              <a:t>algoritma</a:t>
            </a:r>
            <a:r>
              <a:rPr lang="en-US" sz="2200" dirty="0"/>
              <a:t> </a:t>
            </a:r>
            <a:r>
              <a:rPr lang="en-US" sz="2200" dirty="0" err="1"/>
              <a:t>kroz</a:t>
            </a:r>
            <a:r>
              <a:rPr lang="en-US" sz="2200" dirty="0"/>
              <a:t> </a:t>
            </a:r>
            <a:r>
              <a:rPr lang="en-US" sz="2200" dirty="0" err="1"/>
              <a:t>promenu</a:t>
            </a:r>
            <a:r>
              <a:rPr lang="en-US" sz="2200" dirty="0"/>
              <a:t> </a:t>
            </a:r>
            <a:r>
              <a:rPr lang="en-US" sz="2200" dirty="0" err="1"/>
              <a:t>entropije</a:t>
            </a:r>
            <a:r>
              <a:rPr lang="en-US" sz="22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bg1">
                    <a:lumMod val="50000"/>
                    <a:lumOff val="50000"/>
                  </a:schemeClr>
                </a:solidFill>
              </a:rPr>
              <a:t>Cilj</a:t>
            </a:r>
            <a:r>
              <a:rPr lang="en-US" sz="2200" b="1" dirty="0">
                <a:solidFill>
                  <a:schemeClr val="bg1">
                    <a:lumMod val="50000"/>
                    <a:lumOff val="50000"/>
                  </a:schemeClr>
                </a:solidFill>
              </a:rPr>
              <a:t> :</a:t>
            </a:r>
            <a:r>
              <a:rPr lang="en-US" sz="2200" dirty="0"/>
              <a:t> </a:t>
            </a:r>
            <a:r>
              <a:rPr lang="en-US" sz="2200" dirty="0" err="1"/>
              <a:t>Cilj</a:t>
            </a:r>
            <a:r>
              <a:rPr lang="en-US" sz="2200" dirty="0"/>
              <a:t> je da </a:t>
            </a:r>
            <a:r>
              <a:rPr lang="en-US" sz="2200" dirty="0" err="1"/>
              <a:t>dokažemo</a:t>
            </a:r>
            <a:r>
              <a:rPr lang="en-US" sz="2200" dirty="0"/>
              <a:t> da </a:t>
            </a:r>
            <a:r>
              <a:rPr lang="en-US" sz="2200" dirty="0" err="1"/>
              <a:t>nakon</a:t>
            </a:r>
            <a:r>
              <a:rPr lang="en-US" sz="2200" dirty="0"/>
              <a:t> </a:t>
            </a:r>
            <a:r>
              <a:rPr lang="en-US" sz="2200" dirty="0" err="1"/>
              <a:t>enkripcije</a:t>
            </a:r>
            <a:r>
              <a:rPr lang="en-US" sz="2200" dirty="0"/>
              <a:t> </a:t>
            </a:r>
            <a:r>
              <a:rPr lang="en-US" sz="2200" dirty="0" err="1"/>
              <a:t>podatak</a:t>
            </a:r>
            <a:r>
              <a:rPr lang="en-US" sz="2200" dirty="0"/>
              <a:t> </a:t>
            </a:r>
            <a:r>
              <a:rPr lang="en-US" sz="2200" dirty="0" err="1"/>
              <a:t>gubi</a:t>
            </a:r>
            <a:r>
              <a:rPr lang="en-US" sz="2200" dirty="0"/>
              <a:t> </a:t>
            </a:r>
            <a:r>
              <a:rPr lang="en-US" sz="2200" dirty="0" err="1"/>
              <a:t>svoj</a:t>
            </a:r>
            <a:r>
              <a:rPr lang="en-US" sz="2200" dirty="0"/>
              <a:t> </a:t>
            </a:r>
            <a:r>
              <a:rPr lang="en-US" sz="2200" dirty="0" err="1"/>
              <a:t>identitet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postaje</a:t>
            </a:r>
            <a:r>
              <a:rPr lang="en-US" sz="2200" dirty="0"/>
              <a:t> </a:t>
            </a:r>
            <a:r>
              <a:rPr lang="en-US" sz="2200" dirty="0" err="1"/>
              <a:t>statistički</a:t>
            </a:r>
            <a:r>
              <a:rPr lang="en-US" sz="2200" dirty="0"/>
              <a:t> </a:t>
            </a:r>
            <a:r>
              <a:rPr lang="en-US" sz="2200" dirty="0" err="1"/>
              <a:t>nevidljiv</a:t>
            </a:r>
            <a:r>
              <a:rPr lang="en-US" sz="2200" i="1" dirty="0"/>
              <a:t>.</a:t>
            </a:r>
            <a:endParaRPr lang="en-US" sz="2200" dirty="0"/>
          </a:p>
          <a:p>
            <a:endParaRPr lang="en-US" dirty="0"/>
          </a:p>
        </p:txBody>
      </p:sp>
      <p:pic>
        <p:nvPicPr>
          <p:cNvPr id="4" name="Google Shape;3153;p38">
            <a:extLst>
              <a:ext uri="{FF2B5EF4-FFF2-40B4-BE49-F238E27FC236}">
                <a16:creationId xmlns:a16="http://schemas.microsoft.com/office/drawing/2014/main" id="{1FF7069D-A884-1684-6812-046C897D01A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22474" y="3130435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150;p38">
            <a:extLst>
              <a:ext uri="{FF2B5EF4-FFF2-40B4-BE49-F238E27FC236}">
                <a16:creationId xmlns:a16="http://schemas.microsoft.com/office/drawing/2014/main" id="{2F2035DC-C35B-53BB-CDD1-B3531A205AE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3786" y="2571750"/>
            <a:ext cx="1039375" cy="7452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6092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B8EF-9E21-0E9E-0EC0-9926B449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225131"/>
            <a:ext cx="6727048" cy="931723"/>
          </a:xfrm>
        </p:spPr>
        <p:txBody>
          <a:bodyPr/>
          <a:lstStyle/>
          <a:p>
            <a:r>
              <a:rPr lang="it-IT" dirty="0">
                <a:latin typeface="Advent Pro" panose="020B0604020202020204" charset="-18"/>
              </a:rPr>
              <a:t> Koncept privatnosti i zaštite</a:t>
            </a:r>
            <a:endParaRPr lang="en-US" dirty="0">
              <a:latin typeface="Advent Pro" panose="020B0604020202020204" charset="-1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6D2916-74CE-BF9A-B028-FBA89B5CF1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85997" y="1304608"/>
            <a:ext cx="698462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Problem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pasivne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zaštite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Klasična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kontrola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pristupa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lozinke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)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štiti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samo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"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ulazna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vrata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",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ostavljajući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same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podatke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ranjivim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nakon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proboja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barijere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Rešenje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kroz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enkripciju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Za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razliku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od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običnog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čuvanja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enkripcija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transformiše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podatak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u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matematički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nečitljiv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format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čime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sigurnost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prestaje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da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zavisi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od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fizičke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lokacije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fajla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Konačni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cilj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Ovakva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transformacija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uspostavlja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standard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moderne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privatnosti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gde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poverljivost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ne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garantuje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ljudski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faktor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ili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brava,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već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nepremostiva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statistička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verovatnoća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.</a:t>
            </a:r>
          </a:p>
        </p:txBody>
      </p:sp>
      <p:pic>
        <p:nvPicPr>
          <p:cNvPr id="8" name="Google Shape;5130;p73">
            <a:extLst>
              <a:ext uri="{FF2B5EF4-FFF2-40B4-BE49-F238E27FC236}">
                <a16:creationId xmlns:a16="http://schemas.microsoft.com/office/drawing/2014/main" id="{147E8A34-4EE4-7767-83E3-6A678CBDD33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70619" y="2208671"/>
            <a:ext cx="976185" cy="167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2" name="Google Shape;513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770141">
            <a:off x="6328134" y="3897329"/>
            <a:ext cx="1687025" cy="109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8038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DD35-097C-638F-9090-56617D3AE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020" y="259768"/>
            <a:ext cx="5085900" cy="831300"/>
          </a:xfrm>
        </p:spPr>
        <p:txBody>
          <a:bodyPr/>
          <a:lstStyle/>
          <a:p>
            <a:r>
              <a:rPr lang="en" dirty="0">
                <a:latin typeface="Advent Pro" panose="020B0604020202020204" charset="-18"/>
              </a:rPr>
              <a:t>ENTROPIJA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EB4B0-FD2C-8AA1-A2A9-39252A156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090" y="1683328"/>
            <a:ext cx="4960593" cy="2686189"/>
          </a:xfrm>
        </p:spPr>
        <p:txBody>
          <a:bodyPr/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200" b="1" dirty="0" err="1"/>
              <a:t>Entropija</a:t>
            </a:r>
            <a:r>
              <a:rPr lang="en-US" sz="2200" b="1" dirty="0"/>
              <a:t> je </a:t>
            </a:r>
            <a:r>
              <a:rPr lang="en-US" sz="2200" b="1" dirty="0" err="1"/>
              <a:t>mera</a:t>
            </a:r>
            <a:r>
              <a:rPr lang="en-US" sz="2200" b="1" dirty="0"/>
              <a:t> </a:t>
            </a:r>
            <a:r>
              <a:rPr lang="en-US" sz="2200" b="1" dirty="0" err="1"/>
              <a:t>nepredvidivosti,neodređenosti</a:t>
            </a:r>
            <a:r>
              <a:rPr lang="en-US" sz="2200" b="1" dirty="0"/>
              <a:t> </a:t>
            </a:r>
            <a:r>
              <a:rPr lang="en-US" sz="2200" b="1" dirty="0" err="1"/>
              <a:t>ili</a:t>
            </a:r>
            <a:r>
              <a:rPr lang="en-US" sz="2200" b="1" dirty="0"/>
              <a:t> </a:t>
            </a:r>
            <a:r>
              <a:rPr lang="en-US" sz="2200" b="1" dirty="0" err="1"/>
              <a:t>haosa</a:t>
            </a:r>
            <a:r>
              <a:rPr lang="en-US" sz="2200" b="1" dirty="0"/>
              <a:t> u </a:t>
            </a:r>
            <a:r>
              <a:rPr lang="en-US" sz="2200" b="1" dirty="0" err="1"/>
              <a:t>podacima</a:t>
            </a:r>
            <a:r>
              <a:rPr lang="en-US" sz="2200" b="1" dirty="0"/>
              <a:t>.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2200" b="1" dirty="0" err="1"/>
              <a:t>Opseg</a:t>
            </a:r>
            <a:r>
              <a:rPr lang="en-US" sz="2200" b="1" dirty="0"/>
              <a:t> </a:t>
            </a:r>
            <a:r>
              <a:rPr lang="en-US" sz="2200" b="1" dirty="0" err="1"/>
              <a:t>entropije</a:t>
            </a:r>
            <a:r>
              <a:rPr lang="en-US" sz="2200" b="1" dirty="0"/>
              <a:t> je </a:t>
            </a:r>
            <a:r>
              <a:rPr lang="en-US" sz="2200" b="1" dirty="0" err="1"/>
              <a:t>izmđu</a:t>
            </a:r>
            <a:r>
              <a:rPr lang="en-US" sz="2200" b="1" dirty="0"/>
              <a:t> 0 </a:t>
            </a:r>
            <a:r>
              <a:rPr lang="en-US" sz="2200" b="1" dirty="0" err="1"/>
              <a:t>i</a:t>
            </a:r>
            <a:r>
              <a:rPr lang="en-US" sz="2200" b="1" dirty="0"/>
              <a:t> 8, </a:t>
            </a:r>
            <a:r>
              <a:rPr lang="en-US" sz="2200" b="1" dirty="0" err="1"/>
              <a:t>gde</a:t>
            </a:r>
            <a:r>
              <a:rPr lang="en-US" sz="2200" b="1" dirty="0"/>
              <a:t> je 0 </a:t>
            </a:r>
            <a:r>
              <a:rPr lang="en-US" sz="2200" b="1" dirty="0" err="1"/>
              <a:t>potpuni</a:t>
            </a:r>
            <a:r>
              <a:rPr lang="en-US" sz="2200" b="1" dirty="0"/>
              <a:t> red a 8 </a:t>
            </a:r>
            <a:r>
              <a:rPr lang="en-US" sz="2200" b="1" dirty="0" err="1"/>
              <a:t>savršeni</a:t>
            </a:r>
            <a:r>
              <a:rPr lang="en-US" sz="2200" b="1" dirty="0"/>
              <a:t> </a:t>
            </a:r>
            <a:r>
              <a:rPr lang="en-US" sz="2200" b="1" dirty="0" err="1"/>
              <a:t>haos</a:t>
            </a:r>
            <a:r>
              <a:rPr lang="en-US" sz="2200" b="1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B4396C-D85C-3127-8833-BD8832F4D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683" y="1413163"/>
            <a:ext cx="3286100" cy="305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22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4">
          <a:extLst>
            <a:ext uri="{FF2B5EF4-FFF2-40B4-BE49-F238E27FC236}">
              <a16:creationId xmlns:a16="http://schemas.microsoft.com/office/drawing/2014/main" id="{8D8D841A-F8D7-AD20-7900-FFCA24C45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0" name="Google Shape;3720;p47">
            <a:extLst>
              <a:ext uri="{FF2B5EF4-FFF2-40B4-BE49-F238E27FC236}">
                <a16:creationId xmlns:a16="http://schemas.microsoft.com/office/drawing/2014/main" id="{C4E5E7E2-8727-32B0-8D40-CFA321DB5A76}"/>
              </a:ext>
            </a:extLst>
          </p:cNvPr>
          <p:cNvGrpSpPr/>
          <p:nvPr/>
        </p:nvGrpSpPr>
        <p:grpSpPr>
          <a:xfrm>
            <a:off x="1605408" y="1310733"/>
            <a:ext cx="1654433" cy="726522"/>
            <a:chOff x="-453166" y="5813044"/>
            <a:chExt cx="1654433" cy="726522"/>
          </a:xfrm>
        </p:grpSpPr>
        <p:sp>
          <p:nvSpPr>
            <p:cNvPr id="3721" name="Google Shape;3721;p47">
              <a:extLst>
                <a:ext uri="{FF2B5EF4-FFF2-40B4-BE49-F238E27FC236}">
                  <a16:creationId xmlns:a16="http://schemas.microsoft.com/office/drawing/2014/main" id="{8A14BC5B-C530-7C58-0022-39C931569D8C}"/>
                </a:ext>
              </a:extLst>
            </p:cNvPr>
            <p:cNvSpPr/>
            <p:nvPr/>
          </p:nvSpPr>
          <p:spPr>
            <a:xfrm>
              <a:off x="1075248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47">
              <a:extLst>
                <a:ext uri="{FF2B5EF4-FFF2-40B4-BE49-F238E27FC236}">
                  <a16:creationId xmlns:a16="http://schemas.microsoft.com/office/drawing/2014/main" id="{87A8FE04-01C5-F757-49CB-4C3210175D53}"/>
                </a:ext>
              </a:extLst>
            </p:cNvPr>
            <p:cNvSpPr/>
            <p:nvPr/>
          </p:nvSpPr>
          <p:spPr>
            <a:xfrm>
              <a:off x="693144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47">
              <a:extLst>
                <a:ext uri="{FF2B5EF4-FFF2-40B4-BE49-F238E27FC236}">
                  <a16:creationId xmlns:a16="http://schemas.microsoft.com/office/drawing/2014/main" id="{43969D09-D4EE-C113-F87E-5D01DBF3699F}"/>
                </a:ext>
              </a:extLst>
            </p:cNvPr>
            <p:cNvSpPr/>
            <p:nvPr/>
          </p:nvSpPr>
          <p:spPr>
            <a:xfrm>
              <a:off x="693144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47">
              <a:extLst>
                <a:ext uri="{FF2B5EF4-FFF2-40B4-BE49-F238E27FC236}">
                  <a16:creationId xmlns:a16="http://schemas.microsoft.com/office/drawing/2014/main" id="{73AF2F9F-58C0-B18A-EF8B-D5E4283F3FD6}"/>
                </a:ext>
              </a:extLst>
            </p:cNvPr>
            <p:cNvSpPr/>
            <p:nvPr/>
          </p:nvSpPr>
          <p:spPr>
            <a:xfrm>
              <a:off x="693144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47">
              <a:extLst>
                <a:ext uri="{FF2B5EF4-FFF2-40B4-BE49-F238E27FC236}">
                  <a16:creationId xmlns:a16="http://schemas.microsoft.com/office/drawing/2014/main" id="{DC013773-7EBA-8872-42B2-30E6A87BAB82}"/>
                </a:ext>
              </a:extLst>
            </p:cNvPr>
            <p:cNvSpPr/>
            <p:nvPr/>
          </p:nvSpPr>
          <p:spPr>
            <a:xfrm>
              <a:off x="884196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47">
              <a:extLst>
                <a:ext uri="{FF2B5EF4-FFF2-40B4-BE49-F238E27FC236}">
                  <a16:creationId xmlns:a16="http://schemas.microsoft.com/office/drawing/2014/main" id="{2C292F4A-C6A4-F2C3-0652-B1A657E4D7EC}"/>
                </a:ext>
              </a:extLst>
            </p:cNvPr>
            <p:cNvSpPr/>
            <p:nvPr/>
          </p:nvSpPr>
          <p:spPr>
            <a:xfrm>
              <a:off x="884196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47">
              <a:extLst>
                <a:ext uri="{FF2B5EF4-FFF2-40B4-BE49-F238E27FC236}">
                  <a16:creationId xmlns:a16="http://schemas.microsoft.com/office/drawing/2014/main" id="{E15D53A1-FE4A-3B60-B7D6-E01CDAAB611F}"/>
                </a:ext>
              </a:extLst>
            </p:cNvPr>
            <p:cNvSpPr/>
            <p:nvPr/>
          </p:nvSpPr>
          <p:spPr>
            <a:xfrm>
              <a:off x="502093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47">
              <a:extLst>
                <a:ext uri="{FF2B5EF4-FFF2-40B4-BE49-F238E27FC236}">
                  <a16:creationId xmlns:a16="http://schemas.microsoft.com/office/drawing/2014/main" id="{4E149460-1CCB-327F-7C90-3AC55CFAA2F1}"/>
                </a:ext>
              </a:extLst>
            </p:cNvPr>
            <p:cNvSpPr/>
            <p:nvPr/>
          </p:nvSpPr>
          <p:spPr>
            <a:xfrm>
              <a:off x="502093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47">
              <a:extLst>
                <a:ext uri="{FF2B5EF4-FFF2-40B4-BE49-F238E27FC236}">
                  <a16:creationId xmlns:a16="http://schemas.microsoft.com/office/drawing/2014/main" id="{1EAAEDDC-17F6-5E80-3377-E8089A3FDB7F}"/>
                </a:ext>
              </a:extLst>
            </p:cNvPr>
            <p:cNvSpPr/>
            <p:nvPr/>
          </p:nvSpPr>
          <p:spPr>
            <a:xfrm>
              <a:off x="502093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47">
              <a:extLst>
                <a:ext uri="{FF2B5EF4-FFF2-40B4-BE49-F238E27FC236}">
                  <a16:creationId xmlns:a16="http://schemas.microsoft.com/office/drawing/2014/main" id="{93A1ECC7-CF4B-D527-3670-A94541C5CFCB}"/>
                </a:ext>
              </a:extLst>
            </p:cNvPr>
            <p:cNvSpPr/>
            <p:nvPr/>
          </p:nvSpPr>
          <p:spPr>
            <a:xfrm>
              <a:off x="502093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47">
              <a:extLst>
                <a:ext uri="{FF2B5EF4-FFF2-40B4-BE49-F238E27FC236}">
                  <a16:creationId xmlns:a16="http://schemas.microsoft.com/office/drawing/2014/main" id="{9450C47C-B6F7-5E66-DDA8-FC442797E004}"/>
                </a:ext>
              </a:extLst>
            </p:cNvPr>
            <p:cNvSpPr/>
            <p:nvPr/>
          </p:nvSpPr>
          <p:spPr>
            <a:xfrm>
              <a:off x="119989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47">
              <a:extLst>
                <a:ext uri="{FF2B5EF4-FFF2-40B4-BE49-F238E27FC236}">
                  <a16:creationId xmlns:a16="http://schemas.microsoft.com/office/drawing/2014/main" id="{79450B05-2DE0-3EBF-4C59-4EEB918C8489}"/>
                </a:ext>
              </a:extLst>
            </p:cNvPr>
            <p:cNvSpPr/>
            <p:nvPr/>
          </p:nvSpPr>
          <p:spPr>
            <a:xfrm>
              <a:off x="119989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47">
              <a:extLst>
                <a:ext uri="{FF2B5EF4-FFF2-40B4-BE49-F238E27FC236}">
                  <a16:creationId xmlns:a16="http://schemas.microsoft.com/office/drawing/2014/main" id="{68271970-3297-1FAD-5B79-2C205B847A90}"/>
                </a:ext>
              </a:extLst>
            </p:cNvPr>
            <p:cNvSpPr/>
            <p:nvPr/>
          </p:nvSpPr>
          <p:spPr>
            <a:xfrm>
              <a:off x="119989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47">
              <a:extLst>
                <a:ext uri="{FF2B5EF4-FFF2-40B4-BE49-F238E27FC236}">
                  <a16:creationId xmlns:a16="http://schemas.microsoft.com/office/drawing/2014/main" id="{A0BD0C3E-7841-8F95-6D7C-8C72B7A03725}"/>
                </a:ext>
              </a:extLst>
            </p:cNvPr>
            <p:cNvSpPr/>
            <p:nvPr/>
          </p:nvSpPr>
          <p:spPr>
            <a:xfrm>
              <a:off x="119989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47">
              <a:extLst>
                <a:ext uri="{FF2B5EF4-FFF2-40B4-BE49-F238E27FC236}">
                  <a16:creationId xmlns:a16="http://schemas.microsoft.com/office/drawing/2014/main" id="{798B9BB4-73F1-B788-55EF-70B1F267B11F}"/>
                </a:ext>
              </a:extLst>
            </p:cNvPr>
            <p:cNvSpPr/>
            <p:nvPr/>
          </p:nvSpPr>
          <p:spPr>
            <a:xfrm>
              <a:off x="311041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47">
              <a:extLst>
                <a:ext uri="{FF2B5EF4-FFF2-40B4-BE49-F238E27FC236}">
                  <a16:creationId xmlns:a16="http://schemas.microsoft.com/office/drawing/2014/main" id="{B70F6C81-889E-082A-A7C3-53290645E063}"/>
                </a:ext>
              </a:extLst>
            </p:cNvPr>
            <p:cNvSpPr/>
            <p:nvPr/>
          </p:nvSpPr>
          <p:spPr>
            <a:xfrm>
              <a:off x="311041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47">
              <a:extLst>
                <a:ext uri="{FF2B5EF4-FFF2-40B4-BE49-F238E27FC236}">
                  <a16:creationId xmlns:a16="http://schemas.microsoft.com/office/drawing/2014/main" id="{06BED01C-5A79-4E60-90BB-20F4DB44744C}"/>
                </a:ext>
              </a:extLst>
            </p:cNvPr>
            <p:cNvSpPr/>
            <p:nvPr/>
          </p:nvSpPr>
          <p:spPr>
            <a:xfrm>
              <a:off x="311041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47">
              <a:extLst>
                <a:ext uri="{FF2B5EF4-FFF2-40B4-BE49-F238E27FC236}">
                  <a16:creationId xmlns:a16="http://schemas.microsoft.com/office/drawing/2014/main" id="{BDEDB776-EE1B-00EF-D71A-33FB29E439CB}"/>
                </a:ext>
              </a:extLst>
            </p:cNvPr>
            <p:cNvSpPr/>
            <p:nvPr/>
          </p:nvSpPr>
          <p:spPr>
            <a:xfrm>
              <a:off x="311041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47">
              <a:extLst>
                <a:ext uri="{FF2B5EF4-FFF2-40B4-BE49-F238E27FC236}">
                  <a16:creationId xmlns:a16="http://schemas.microsoft.com/office/drawing/2014/main" id="{C954291F-9541-EBB8-FBE2-64B5245066C7}"/>
                </a:ext>
              </a:extLst>
            </p:cNvPr>
            <p:cNvSpPr/>
            <p:nvPr/>
          </p:nvSpPr>
          <p:spPr>
            <a:xfrm>
              <a:off x="-71062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47">
              <a:extLst>
                <a:ext uri="{FF2B5EF4-FFF2-40B4-BE49-F238E27FC236}">
                  <a16:creationId xmlns:a16="http://schemas.microsoft.com/office/drawing/2014/main" id="{530DD711-27A0-28D0-3853-79E835E23D4D}"/>
                </a:ext>
              </a:extLst>
            </p:cNvPr>
            <p:cNvSpPr/>
            <p:nvPr/>
          </p:nvSpPr>
          <p:spPr>
            <a:xfrm>
              <a:off x="-71062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47">
              <a:extLst>
                <a:ext uri="{FF2B5EF4-FFF2-40B4-BE49-F238E27FC236}">
                  <a16:creationId xmlns:a16="http://schemas.microsoft.com/office/drawing/2014/main" id="{26A32E3C-632E-EB31-0CFE-0F6BB03BF275}"/>
                </a:ext>
              </a:extLst>
            </p:cNvPr>
            <p:cNvSpPr/>
            <p:nvPr/>
          </p:nvSpPr>
          <p:spPr>
            <a:xfrm>
              <a:off x="-453166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47">
              <a:extLst>
                <a:ext uri="{FF2B5EF4-FFF2-40B4-BE49-F238E27FC236}">
                  <a16:creationId xmlns:a16="http://schemas.microsoft.com/office/drawing/2014/main" id="{AE83914D-8A5C-8A7B-4783-DA07AF64B17F}"/>
                </a:ext>
              </a:extLst>
            </p:cNvPr>
            <p:cNvSpPr/>
            <p:nvPr/>
          </p:nvSpPr>
          <p:spPr>
            <a:xfrm>
              <a:off x="-262114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47">
              <a:extLst>
                <a:ext uri="{FF2B5EF4-FFF2-40B4-BE49-F238E27FC236}">
                  <a16:creationId xmlns:a16="http://schemas.microsoft.com/office/drawing/2014/main" id="{A710E80F-452E-B2A8-4341-359B6833D3A1}"/>
                </a:ext>
              </a:extLst>
            </p:cNvPr>
            <p:cNvSpPr/>
            <p:nvPr/>
          </p:nvSpPr>
          <p:spPr>
            <a:xfrm>
              <a:off x="-262114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4" name="Google Shape;3744;p47">
            <a:extLst>
              <a:ext uri="{FF2B5EF4-FFF2-40B4-BE49-F238E27FC236}">
                <a16:creationId xmlns:a16="http://schemas.microsoft.com/office/drawing/2014/main" id="{6F9CB3A5-0B51-CFD4-0E5F-0D06ED0E3E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480" y="0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4200" dirty="0">
                <a:latin typeface="Advent Pro" panose="020B0604020202020204" charset="-18"/>
              </a:rPr>
              <a:t>Matematička osnova entropije</a:t>
            </a:r>
            <a:endParaRPr sz="4200" dirty="0">
              <a:latin typeface="Advent Pro" panose="020B0604020202020204" charset="-18"/>
            </a:endParaRPr>
          </a:p>
        </p:txBody>
      </p:sp>
      <p:grpSp>
        <p:nvGrpSpPr>
          <p:cNvPr id="3751" name="Google Shape;3751;p47">
            <a:extLst>
              <a:ext uri="{FF2B5EF4-FFF2-40B4-BE49-F238E27FC236}">
                <a16:creationId xmlns:a16="http://schemas.microsoft.com/office/drawing/2014/main" id="{33682DBF-A129-C0F5-2988-448990165807}"/>
              </a:ext>
            </a:extLst>
          </p:cNvPr>
          <p:cNvGrpSpPr/>
          <p:nvPr/>
        </p:nvGrpSpPr>
        <p:grpSpPr>
          <a:xfrm>
            <a:off x="8375391" y="274915"/>
            <a:ext cx="485944" cy="339170"/>
            <a:chOff x="5265975" y="1869575"/>
            <a:chExt cx="269400" cy="128825"/>
          </a:xfrm>
        </p:grpSpPr>
        <p:cxnSp>
          <p:nvCxnSpPr>
            <p:cNvPr id="3752" name="Google Shape;3752;p47">
              <a:extLst>
                <a:ext uri="{FF2B5EF4-FFF2-40B4-BE49-F238E27FC236}">
                  <a16:creationId xmlns:a16="http://schemas.microsoft.com/office/drawing/2014/main" id="{F7A784AD-5DC3-41B7-BD2C-9A5F1180C163}"/>
                </a:ext>
              </a:extLst>
            </p:cNvPr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3" name="Google Shape;3753;p47">
              <a:extLst>
                <a:ext uri="{FF2B5EF4-FFF2-40B4-BE49-F238E27FC236}">
                  <a16:creationId xmlns:a16="http://schemas.microsoft.com/office/drawing/2014/main" id="{8A95A2A7-359B-9D2E-1B19-8A252D9FAA89}"/>
                </a:ext>
              </a:extLst>
            </p:cNvPr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4" name="Google Shape;3754;p47">
              <a:extLst>
                <a:ext uri="{FF2B5EF4-FFF2-40B4-BE49-F238E27FC236}">
                  <a16:creationId xmlns:a16="http://schemas.microsoft.com/office/drawing/2014/main" id="{E471AD9A-BF4F-6163-0E3A-0EE2878F2878}"/>
                </a:ext>
              </a:extLst>
            </p:cNvPr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5" name="Google Shape;3755;p47">
              <a:extLst>
                <a:ext uri="{FF2B5EF4-FFF2-40B4-BE49-F238E27FC236}">
                  <a16:creationId xmlns:a16="http://schemas.microsoft.com/office/drawing/2014/main" id="{FD109D5D-87BD-FDEE-91D7-74A1E6CBB0D1}"/>
                </a:ext>
              </a:extLst>
            </p:cNvPr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6" name="Google Shape;3756;p47">
              <a:extLst>
                <a:ext uri="{FF2B5EF4-FFF2-40B4-BE49-F238E27FC236}">
                  <a16:creationId xmlns:a16="http://schemas.microsoft.com/office/drawing/2014/main" id="{9661C221-9429-2272-4389-DE6F73BC9BB1}"/>
                </a:ext>
              </a:extLst>
            </p:cNvPr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59" name="Google Shape;3759;p47">
            <a:extLst>
              <a:ext uri="{FF2B5EF4-FFF2-40B4-BE49-F238E27FC236}">
                <a16:creationId xmlns:a16="http://schemas.microsoft.com/office/drawing/2014/main" id="{487418F4-6EAE-F043-E712-1D5778D84DDC}"/>
              </a:ext>
            </a:extLst>
          </p:cNvPr>
          <p:cNvSpPr/>
          <p:nvPr/>
        </p:nvSpPr>
        <p:spPr>
          <a:xfrm>
            <a:off x="6405052" y="1564119"/>
            <a:ext cx="1207200" cy="12075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A9C817D2-CC1F-108D-5DB4-BC9C40283201}"/>
              </a:ext>
            </a:extLst>
          </p:cNvPr>
          <p:cNvSpPr>
            <a:spLocks noGrp="1" noChangeArrowheads="1"/>
          </p:cNvSpPr>
          <p:nvPr>
            <p:ph type="title" idx="2"/>
          </p:nvPr>
        </p:nvSpPr>
        <p:spPr bwMode="auto">
          <a:xfrm>
            <a:off x="340243" y="3301586"/>
            <a:ext cx="860458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39793-D731-D1B0-7362-9A78CA87A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22149"/>
            <a:ext cx="9125496" cy="23576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9F668-73DD-5F7B-ADB5-DF83CC747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821" y="1023005"/>
            <a:ext cx="9196317" cy="1439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739E0A-3E40-8E8C-4228-C3526037C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46174"/>
            <a:ext cx="9144000" cy="246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98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EF16-F471-D06F-1CEA-F80FEB52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vent Pro" panose="020B0604020202020204" charset="-18"/>
              </a:rPr>
              <a:t>ENTROPIJA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616AE-0566-DD92-F0E0-0533B84094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2D29C53-B792-4203-ADE4-EC1654F26B30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C9DE3-BC9C-64A0-AEAA-570963EC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41" y="1597752"/>
            <a:ext cx="3455189" cy="2448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7F1F9D-0A79-0A83-2611-79AF13AD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425" y="1597752"/>
            <a:ext cx="3418539" cy="244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87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Google Shape;3824;p49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r-Latn-RS" dirty="0"/>
              <a:t> </a:t>
            </a:r>
            <a:r>
              <a:rPr lang="en-US" sz="4200" dirty="0" err="1">
                <a:latin typeface="Advent Pro" panose="020B0604020202020204" charset="-18"/>
              </a:rPr>
              <a:t>Metodologija</a:t>
            </a:r>
            <a:r>
              <a:rPr lang="en-US" sz="4200" dirty="0">
                <a:latin typeface="Advent Pro" panose="020B0604020202020204" charset="-18"/>
              </a:rPr>
              <a:t> rada (</a:t>
            </a:r>
            <a:r>
              <a:rPr lang="en-US" sz="4200" dirty="0" err="1">
                <a:latin typeface="Advent Pro" panose="020B0604020202020204" charset="-18"/>
              </a:rPr>
              <a:t>Eksperiment</a:t>
            </a:r>
            <a:r>
              <a:rPr lang="en-US" sz="4200" dirty="0">
                <a:latin typeface="Advent Pro" panose="020B0604020202020204" charset="-18"/>
              </a:rPr>
              <a:t>)</a:t>
            </a:r>
            <a:br>
              <a:rPr lang="en-US" sz="4200" dirty="0">
                <a:latin typeface="Advent Pro" panose="020B0604020202020204" charset="-18"/>
              </a:rPr>
            </a:br>
            <a:endParaRPr sz="4200" dirty="0">
              <a:latin typeface="Advent Pro" panose="020B0604020202020204" charset="-18"/>
            </a:endParaRPr>
          </a:p>
        </p:txBody>
      </p:sp>
      <p:sp>
        <p:nvSpPr>
          <p:cNvPr id="3825" name="Google Shape;3825;p49"/>
          <p:cNvSpPr txBox="1">
            <a:spLocks noGrp="1"/>
          </p:cNvSpPr>
          <p:nvPr>
            <p:ph type="title" idx="2"/>
          </p:nvPr>
        </p:nvSpPr>
        <p:spPr>
          <a:xfrm>
            <a:off x="1015475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dvent Pro" panose="020B0604020202020204" charset="-18"/>
              </a:rPr>
              <a:t>Encrypt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826" name="Google Shape;3826;p49"/>
          <p:cNvSpPr txBox="1">
            <a:spLocks noGrp="1"/>
          </p:cNvSpPr>
          <p:nvPr>
            <p:ph type="subTitle" idx="1"/>
          </p:nvPr>
        </p:nvSpPr>
        <p:spPr>
          <a:xfrm>
            <a:off x="1015475" y="3696599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Primenjujemo</a:t>
            </a:r>
            <a:r>
              <a:rPr lang="en-US" b="1" dirty="0"/>
              <a:t> AES </a:t>
            </a:r>
            <a:r>
              <a:rPr lang="en-US" b="1" dirty="0" err="1"/>
              <a:t>algoritam</a:t>
            </a:r>
            <a:endParaRPr lang="en-US" b="1" dirty="0"/>
          </a:p>
        </p:txBody>
      </p:sp>
      <p:sp>
        <p:nvSpPr>
          <p:cNvPr id="3827" name="Google Shape;3827;p49"/>
          <p:cNvSpPr txBox="1">
            <a:spLocks noGrp="1"/>
          </p:cNvSpPr>
          <p:nvPr>
            <p:ph type="title" idx="3"/>
          </p:nvPr>
        </p:nvSpPr>
        <p:spPr>
          <a:xfrm>
            <a:off x="3671479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dvent Pro" panose="020B0604020202020204" charset="-18"/>
              </a:rPr>
              <a:t>Encrypt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828" name="Google Shape;3828;p49"/>
          <p:cNvSpPr txBox="1">
            <a:spLocks noGrp="1"/>
          </p:cNvSpPr>
          <p:nvPr>
            <p:ph type="subTitle" idx="4"/>
          </p:nvPr>
        </p:nvSpPr>
        <p:spPr>
          <a:xfrm>
            <a:off x="3671479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Dobijemo</a:t>
            </a:r>
            <a:r>
              <a:rPr lang="en-US" b="1" dirty="0"/>
              <a:t> novi .locked </a:t>
            </a:r>
            <a:r>
              <a:rPr lang="en-US" b="1" dirty="0" err="1"/>
              <a:t>fajl</a:t>
            </a:r>
            <a:endParaRPr b="1" dirty="0"/>
          </a:p>
        </p:txBody>
      </p:sp>
      <p:sp>
        <p:nvSpPr>
          <p:cNvPr id="3829" name="Google Shape;3829;p49"/>
          <p:cNvSpPr txBox="1">
            <a:spLocks noGrp="1"/>
          </p:cNvSpPr>
          <p:nvPr>
            <p:ph type="title" idx="5"/>
          </p:nvPr>
        </p:nvSpPr>
        <p:spPr>
          <a:xfrm>
            <a:off x="6327467" y="3267050"/>
            <a:ext cx="2103308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Advent Pro" panose="020B0604020202020204" charset="-18"/>
              </a:rPr>
              <a:t>EntropyAnalyzer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830" name="Google Shape;3830;p49"/>
          <p:cNvSpPr txBox="1">
            <a:spLocks noGrp="1"/>
          </p:cNvSpPr>
          <p:nvPr>
            <p:ph type="subTitle" idx="6"/>
          </p:nvPr>
        </p:nvSpPr>
        <p:spPr>
          <a:xfrm>
            <a:off x="6327467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Ponovo</a:t>
            </a:r>
            <a:r>
              <a:rPr lang="en-US" b="1" dirty="0"/>
              <a:t> </a:t>
            </a:r>
            <a:r>
              <a:rPr lang="en-US" b="1" dirty="0" err="1"/>
              <a:t>merimo</a:t>
            </a:r>
            <a:r>
              <a:rPr lang="en-US" b="1" dirty="0"/>
              <a:t> </a:t>
            </a:r>
            <a:r>
              <a:rPr lang="en-US" b="1" dirty="0" err="1"/>
              <a:t>nivo</a:t>
            </a:r>
            <a:r>
              <a:rPr lang="en-US" b="1" dirty="0"/>
              <a:t> </a:t>
            </a:r>
            <a:r>
              <a:rPr lang="en-US" b="1" dirty="0" err="1"/>
              <a:t>haosa</a:t>
            </a:r>
            <a:endParaRPr b="1" dirty="0"/>
          </a:p>
        </p:txBody>
      </p:sp>
      <p:sp>
        <p:nvSpPr>
          <p:cNvPr id="3831" name="Google Shape;3831;p49"/>
          <p:cNvSpPr txBox="1">
            <a:spLocks noGrp="1"/>
          </p:cNvSpPr>
          <p:nvPr>
            <p:ph type="title" idx="7"/>
          </p:nvPr>
        </p:nvSpPr>
        <p:spPr>
          <a:xfrm>
            <a:off x="1015475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Advent Pro" panose="020B0604020202020204" charset="-18"/>
              </a:rPr>
              <a:t>FileHandler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832" name="Google Shape;3832;p49"/>
          <p:cNvSpPr txBox="1">
            <a:spLocks noGrp="1"/>
          </p:cNvSpPr>
          <p:nvPr>
            <p:ph type="subTitle" idx="8"/>
          </p:nvPr>
        </p:nvSpPr>
        <p:spPr>
          <a:xfrm>
            <a:off x="1015475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Uzimamo</a:t>
            </a:r>
            <a:r>
              <a:rPr lang="en-US" b="1" dirty="0"/>
              <a:t> </a:t>
            </a:r>
            <a:r>
              <a:rPr lang="en-US" b="1" dirty="0" err="1"/>
              <a:t>fajl</a:t>
            </a:r>
            <a:endParaRPr b="1" dirty="0"/>
          </a:p>
        </p:txBody>
      </p:sp>
      <p:sp>
        <p:nvSpPr>
          <p:cNvPr id="3833" name="Google Shape;3833;p49"/>
          <p:cNvSpPr txBox="1">
            <a:spLocks noGrp="1"/>
          </p:cNvSpPr>
          <p:nvPr>
            <p:ph type="title" idx="9"/>
          </p:nvPr>
        </p:nvSpPr>
        <p:spPr>
          <a:xfrm>
            <a:off x="3671479" y="1672427"/>
            <a:ext cx="2096436" cy="5446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Advent Pro" panose="020B0604020202020204" charset="-18"/>
              </a:rPr>
              <a:t>EntropyAnalyzer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834" name="Google Shape;3834;p49"/>
          <p:cNvSpPr txBox="1">
            <a:spLocks noGrp="1"/>
          </p:cNvSpPr>
          <p:nvPr>
            <p:ph type="subTitle" idx="13"/>
          </p:nvPr>
        </p:nvSpPr>
        <p:spPr>
          <a:xfrm>
            <a:off x="3671479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Merimo</a:t>
            </a:r>
            <a:r>
              <a:rPr lang="en-US" b="1" dirty="0"/>
              <a:t> </a:t>
            </a:r>
            <a:r>
              <a:rPr lang="en-US" b="1" dirty="0" err="1"/>
              <a:t>nivo</a:t>
            </a:r>
            <a:r>
              <a:rPr lang="en-US" b="1" dirty="0"/>
              <a:t> </a:t>
            </a:r>
            <a:r>
              <a:rPr lang="en-US" b="1" dirty="0" err="1"/>
              <a:t>haosa</a:t>
            </a:r>
            <a:endParaRPr b="1" dirty="0"/>
          </a:p>
        </p:txBody>
      </p:sp>
      <p:sp>
        <p:nvSpPr>
          <p:cNvPr id="3835" name="Google Shape;3835;p49"/>
          <p:cNvSpPr txBox="1">
            <a:spLocks noGrp="1"/>
          </p:cNvSpPr>
          <p:nvPr>
            <p:ph type="title" idx="14"/>
          </p:nvPr>
        </p:nvSpPr>
        <p:spPr>
          <a:xfrm>
            <a:off x="6327467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dvent Pro" panose="020B0604020202020204" charset="-18"/>
              </a:rPr>
              <a:t>Scanner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836" name="Google Shape;3836;p49"/>
          <p:cNvSpPr txBox="1">
            <a:spLocks noGrp="1"/>
          </p:cNvSpPr>
          <p:nvPr>
            <p:ph type="subTitle" idx="15"/>
          </p:nvPr>
        </p:nvSpPr>
        <p:spPr>
          <a:xfrm>
            <a:off x="6327467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Unesemo</a:t>
            </a:r>
            <a:r>
              <a:rPr lang="en-US" b="1" dirty="0"/>
              <a:t> </a:t>
            </a:r>
            <a:r>
              <a:rPr lang="en-US" b="1" dirty="0" err="1"/>
              <a:t>userkey</a:t>
            </a:r>
            <a:endParaRPr b="1" dirty="0"/>
          </a:p>
        </p:txBody>
      </p:sp>
      <p:sp>
        <p:nvSpPr>
          <p:cNvPr id="3837" name="Google Shape;3837;p49"/>
          <p:cNvSpPr/>
          <p:nvPr/>
        </p:nvSpPr>
        <p:spPr>
          <a:xfrm>
            <a:off x="4789508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8" name="Google Shape;3838;p49"/>
          <p:cNvSpPr/>
          <p:nvPr/>
        </p:nvSpPr>
        <p:spPr>
          <a:xfrm>
            <a:off x="4975306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9" name="Google Shape;3839;p49"/>
          <p:cNvSpPr/>
          <p:nvPr/>
        </p:nvSpPr>
        <p:spPr>
          <a:xfrm>
            <a:off x="4603711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0" name="Google Shape;3840;p49"/>
          <p:cNvSpPr/>
          <p:nvPr/>
        </p:nvSpPr>
        <p:spPr>
          <a:xfrm>
            <a:off x="4232115" y="1525348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1" name="Google Shape;3841;p49"/>
          <p:cNvSpPr/>
          <p:nvPr/>
        </p:nvSpPr>
        <p:spPr>
          <a:xfrm>
            <a:off x="4417913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2" name="Google Shape;3842;p49"/>
          <p:cNvSpPr/>
          <p:nvPr/>
        </p:nvSpPr>
        <p:spPr>
          <a:xfrm>
            <a:off x="4046317" y="1525348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3" name="Google Shape;3843;p49"/>
          <p:cNvSpPr/>
          <p:nvPr/>
        </p:nvSpPr>
        <p:spPr>
          <a:xfrm>
            <a:off x="7445496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4" name="Google Shape;3844;p49"/>
          <p:cNvSpPr/>
          <p:nvPr/>
        </p:nvSpPr>
        <p:spPr>
          <a:xfrm>
            <a:off x="7631293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5" name="Google Shape;3845;p49"/>
          <p:cNvSpPr/>
          <p:nvPr/>
        </p:nvSpPr>
        <p:spPr>
          <a:xfrm>
            <a:off x="7259698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6" name="Google Shape;3846;p49"/>
          <p:cNvSpPr/>
          <p:nvPr/>
        </p:nvSpPr>
        <p:spPr>
          <a:xfrm>
            <a:off x="6888102" y="1525348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7" name="Google Shape;3847;p49"/>
          <p:cNvSpPr/>
          <p:nvPr/>
        </p:nvSpPr>
        <p:spPr>
          <a:xfrm>
            <a:off x="7073900" y="1525348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8" name="Google Shape;3848;p49"/>
          <p:cNvSpPr/>
          <p:nvPr/>
        </p:nvSpPr>
        <p:spPr>
          <a:xfrm>
            <a:off x="6702305" y="1525348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9" name="Google Shape;3849;p49"/>
          <p:cNvSpPr/>
          <p:nvPr/>
        </p:nvSpPr>
        <p:spPr>
          <a:xfrm>
            <a:off x="2134134" y="1549426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0" name="Google Shape;3850;p49"/>
          <p:cNvSpPr/>
          <p:nvPr/>
        </p:nvSpPr>
        <p:spPr>
          <a:xfrm>
            <a:off x="2320620" y="1549426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1" name="Google Shape;3851;p49"/>
          <p:cNvSpPr/>
          <p:nvPr/>
        </p:nvSpPr>
        <p:spPr>
          <a:xfrm>
            <a:off x="1947649" y="1549426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2" name="Google Shape;3852;p49"/>
          <p:cNvSpPr/>
          <p:nvPr/>
        </p:nvSpPr>
        <p:spPr>
          <a:xfrm>
            <a:off x="1574678" y="1549426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3" name="Google Shape;3853;p49"/>
          <p:cNvSpPr/>
          <p:nvPr/>
        </p:nvSpPr>
        <p:spPr>
          <a:xfrm>
            <a:off x="1761163" y="1549426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4" name="Google Shape;3854;p49"/>
          <p:cNvSpPr/>
          <p:nvPr/>
        </p:nvSpPr>
        <p:spPr>
          <a:xfrm>
            <a:off x="1388192" y="1549426"/>
            <a:ext cx="122989" cy="12300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5" name="Google Shape;3855;p49"/>
          <p:cNvSpPr/>
          <p:nvPr/>
        </p:nvSpPr>
        <p:spPr>
          <a:xfrm>
            <a:off x="2135276" y="3098985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6" name="Google Shape;3856;p49"/>
          <p:cNvSpPr/>
          <p:nvPr/>
        </p:nvSpPr>
        <p:spPr>
          <a:xfrm>
            <a:off x="2321073" y="3098985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7" name="Google Shape;3857;p49"/>
          <p:cNvSpPr/>
          <p:nvPr/>
        </p:nvSpPr>
        <p:spPr>
          <a:xfrm>
            <a:off x="1949478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8" name="Google Shape;3858;p49"/>
          <p:cNvSpPr/>
          <p:nvPr/>
        </p:nvSpPr>
        <p:spPr>
          <a:xfrm>
            <a:off x="1577882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9" name="Google Shape;3859;p49"/>
          <p:cNvSpPr/>
          <p:nvPr/>
        </p:nvSpPr>
        <p:spPr>
          <a:xfrm>
            <a:off x="1763680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0" name="Google Shape;3860;p49"/>
          <p:cNvSpPr/>
          <p:nvPr/>
        </p:nvSpPr>
        <p:spPr>
          <a:xfrm>
            <a:off x="1392085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1" name="Google Shape;3861;p49"/>
          <p:cNvSpPr/>
          <p:nvPr/>
        </p:nvSpPr>
        <p:spPr>
          <a:xfrm>
            <a:off x="7445496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2" name="Google Shape;3862;p49"/>
          <p:cNvSpPr/>
          <p:nvPr/>
        </p:nvSpPr>
        <p:spPr>
          <a:xfrm>
            <a:off x="7631293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3" name="Google Shape;3863;p49"/>
          <p:cNvSpPr/>
          <p:nvPr/>
        </p:nvSpPr>
        <p:spPr>
          <a:xfrm>
            <a:off x="7259698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4" name="Google Shape;3864;p49"/>
          <p:cNvSpPr/>
          <p:nvPr/>
        </p:nvSpPr>
        <p:spPr>
          <a:xfrm>
            <a:off x="6888102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5" name="Google Shape;3865;p49"/>
          <p:cNvSpPr/>
          <p:nvPr/>
        </p:nvSpPr>
        <p:spPr>
          <a:xfrm>
            <a:off x="7073900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6" name="Google Shape;3866;p49"/>
          <p:cNvSpPr/>
          <p:nvPr/>
        </p:nvSpPr>
        <p:spPr>
          <a:xfrm>
            <a:off x="6702305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7" name="Google Shape;3867;p49"/>
          <p:cNvSpPr/>
          <p:nvPr/>
        </p:nvSpPr>
        <p:spPr>
          <a:xfrm>
            <a:off x="4789508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8" name="Google Shape;3868;p49"/>
          <p:cNvSpPr/>
          <p:nvPr/>
        </p:nvSpPr>
        <p:spPr>
          <a:xfrm>
            <a:off x="4975306" y="3098985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9" name="Google Shape;3869;p49"/>
          <p:cNvSpPr/>
          <p:nvPr/>
        </p:nvSpPr>
        <p:spPr>
          <a:xfrm>
            <a:off x="4603711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0" name="Google Shape;3870;p49"/>
          <p:cNvSpPr/>
          <p:nvPr/>
        </p:nvSpPr>
        <p:spPr>
          <a:xfrm>
            <a:off x="4232115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1" name="Google Shape;3871;p49"/>
          <p:cNvSpPr/>
          <p:nvPr/>
        </p:nvSpPr>
        <p:spPr>
          <a:xfrm>
            <a:off x="4417913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2" name="Google Shape;3872;p49"/>
          <p:cNvSpPr/>
          <p:nvPr/>
        </p:nvSpPr>
        <p:spPr>
          <a:xfrm>
            <a:off x="4046317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EF97-66A1-EE82-DDFB-32047AB6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03" y="232059"/>
            <a:ext cx="5085900" cy="831300"/>
          </a:xfrm>
        </p:spPr>
        <p:txBody>
          <a:bodyPr/>
          <a:lstStyle/>
          <a:p>
            <a:r>
              <a:rPr lang="en-US" dirty="0">
                <a:latin typeface="Advent Pro" panose="020B0604020202020204" charset="-18"/>
              </a:rPr>
              <a:t>AES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5DB8B-D589-59C5-D361-A6A9776BD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64" y="1752342"/>
            <a:ext cx="5085900" cy="2195882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Simetrični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algoritam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, standard u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svetu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.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Brz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je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i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stvara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visoku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entropiju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.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Neprevazidjen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je.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Pravi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skoro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savr</a:t>
            </a:r>
            <a:r>
              <a:rPr lang="sr-Latn-R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šeni haos.</a:t>
            </a:r>
            <a:endParaRPr lang="en-US" altLang="en-US" sz="2200" b="1" dirty="0">
              <a:solidFill>
                <a:schemeClr val="tx1"/>
              </a:solidFill>
              <a:latin typeface="Advent Pro" panose="020B0604020202020204" charset="-18"/>
            </a:endParaRP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36278-29B8-E973-5834-681039B50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06" y="1913860"/>
            <a:ext cx="3474794" cy="3229640"/>
          </a:xfrm>
          <a:prstGeom prst="rect">
            <a:avLst/>
          </a:prstGeom>
        </p:spPr>
      </p:pic>
      <p:sp>
        <p:nvSpPr>
          <p:cNvPr id="6" name="Subtitle 1">
            <a:extLst>
              <a:ext uri="{FF2B5EF4-FFF2-40B4-BE49-F238E27FC236}">
                <a16:creationId xmlns:a16="http://schemas.microsoft.com/office/drawing/2014/main" id="{22785D23-712E-441E-24D0-F6348192B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169" y="4194619"/>
            <a:ext cx="39988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dvent Pro"/>
              <a:buNone/>
              <a:defRPr sz="18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dvent Pro"/>
              <a:buNone/>
              <a:defRPr sz="21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dvent Pro"/>
              <a:buNone/>
              <a:defRPr sz="21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dvent Pro"/>
              <a:buNone/>
              <a:defRPr sz="21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dvent Pro"/>
              <a:buNone/>
              <a:defRPr sz="21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dvent Pro"/>
              <a:buNone/>
              <a:defRPr sz="21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dvent Pro"/>
              <a:buNone/>
              <a:defRPr sz="21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dvent Pro"/>
              <a:buNone/>
              <a:defRPr sz="21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dvent Pro"/>
              <a:buNone/>
              <a:defRPr sz="21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sr-Latn-RS" altLang="en-US" dirty="0">
                <a:solidFill>
                  <a:schemeClr val="tx1"/>
                </a:solidFill>
                <a:latin typeface="Arial" panose="020B0604020202020204" pitchFamily="34" charset="0"/>
              </a:rPr>
              <a:t>Šifrat šifrovan AES128 algoritmom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570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748A-6E0B-8215-34D7-95B967E94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054" y="166677"/>
            <a:ext cx="6291546" cy="840540"/>
          </a:xfrm>
        </p:spPr>
        <p:txBody>
          <a:bodyPr/>
          <a:lstStyle/>
          <a:p>
            <a:r>
              <a:rPr lang="en-US" dirty="0">
                <a:latin typeface="Advent Pro" panose="020B0604020202020204" charset="-18"/>
              </a:rPr>
              <a:t>METODOLOGIJA T</a:t>
            </a:r>
            <a:r>
              <a:rPr lang="sr-Latn-RS" dirty="0">
                <a:latin typeface="Advent Pro" panose="020B0604020202020204" charset="-18"/>
              </a:rPr>
              <a:t>ESTIRANJA</a:t>
            </a:r>
            <a:endParaRPr lang="en-US" dirty="0">
              <a:latin typeface="Advent Pro" panose="020B0604020202020204" charset="-1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A4667-B395-F93F-6342-63C92BCC1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628" y="1077433"/>
            <a:ext cx="6583347" cy="3479120"/>
          </a:xfrm>
        </p:spPr>
        <p:txBody>
          <a:bodyPr/>
          <a:lstStyle/>
          <a:p>
            <a:pPr marL="285750" lvl="0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Uzorci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za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testiranje</a:t>
            </a:r>
            <a:r>
              <a:rPr lang="sr-Latn-R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:</a:t>
            </a:r>
            <a:endParaRPr lang="en-US" altLang="en-US" sz="2200" dirty="0">
              <a:solidFill>
                <a:schemeClr val="tx1"/>
              </a:solidFill>
              <a:latin typeface="Advent Pro" panose="020B0604020202020204" charset="-18"/>
            </a:endParaRP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Tekstualni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fajlovi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(.txt):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Visoka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predvidljivost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(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niska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entropija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).</a:t>
            </a: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Slike (.jpg, .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png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):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Delimično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kompresovani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podaci</a:t>
            </a:r>
            <a:endParaRPr lang="en-US" altLang="en-US" sz="2200" dirty="0">
              <a:solidFill>
                <a:schemeClr val="tx1"/>
              </a:solidFill>
              <a:latin typeface="Advent Pro" panose="020B0604020202020204" charset="-18"/>
            </a:endParaRP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Izvršni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fajlovi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(.exe):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Složena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struktura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bajtova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.</a:t>
            </a:r>
          </a:p>
          <a:p>
            <a:pPr marL="285750" lvl="0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Korišćeni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algoritmi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: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AES (Advanced Encryption Standard)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sa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ključem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od 128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bita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.</a:t>
            </a:r>
          </a:p>
          <a:p>
            <a:pPr marL="285750" lvl="0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Alati za </a:t>
            </a: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analizu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: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Program za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računanje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entropije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endParaRPr lang="sr-Latn-RS" altLang="en-US" sz="2200" dirty="0">
              <a:solidFill>
                <a:schemeClr val="tx1"/>
              </a:solidFill>
              <a:latin typeface="Advent Pro" panose="020B0604020202020204" charset="-18"/>
            </a:endParaRPr>
          </a:p>
          <a:p>
            <a:pPr marL="285750" lvl="0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 err="1">
                <a:solidFill>
                  <a:schemeClr val="tx1"/>
                </a:solidFill>
                <a:latin typeface="Advent Pro" panose="020B0604020202020204" charset="-18"/>
              </a:rPr>
              <a:t>Metoda</a:t>
            </a:r>
            <a:r>
              <a:rPr lang="en-US" altLang="en-US" sz="2200" b="1" dirty="0">
                <a:solidFill>
                  <a:schemeClr val="tx1"/>
                </a:solidFill>
                <a:latin typeface="Advent Pro" panose="020B0604020202020204" charset="-18"/>
              </a:rPr>
              <a:t>: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Poređenje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frekvencije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pojavljivanja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bajtova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pre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i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nakon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primene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Advent Pro" panose="020B0604020202020204" charset="-18"/>
              </a:rPr>
              <a:t>enkripcije</a:t>
            </a:r>
            <a:r>
              <a:rPr lang="en-US" altLang="en-US" sz="2200" dirty="0">
                <a:solidFill>
                  <a:schemeClr val="tx1"/>
                </a:solidFill>
                <a:latin typeface="Advent Pro" panose="020B0604020202020204" charset="-18"/>
              </a:rPr>
              <a:t>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79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8">
          <a:extLst>
            <a:ext uri="{FF2B5EF4-FFF2-40B4-BE49-F238E27FC236}">
              <a16:creationId xmlns:a16="http://schemas.microsoft.com/office/drawing/2014/main" id="{AC45B7F7-04FA-8ADE-1C08-2A95A2981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39">
            <a:extLst>
              <a:ext uri="{FF2B5EF4-FFF2-40B4-BE49-F238E27FC236}">
                <a16:creationId xmlns:a16="http://schemas.microsoft.com/office/drawing/2014/main" id="{EF143256-B8E9-52CE-615F-41F5D068F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9272"/>
            <a:ext cx="8742219" cy="13347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l-PL" sz="5000" dirty="0"/>
              <a:t> </a:t>
            </a:r>
            <a:r>
              <a:rPr lang="pl-PL" sz="4200" dirty="0">
                <a:latin typeface="Advent Pro" panose="020B0604020202020204" charset="-18"/>
              </a:rPr>
              <a:t>Analiza rezultata: Tekstualni uzorci</a:t>
            </a:r>
            <a:endParaRPr lang="en-US" sz="4200" dirty="0">
              <a:latin typeface="Advent Pro" panose="020B0604020202020204" charset="-1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8CFA60-3082-DFC6-273D-54C4E9574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0226"/>
            <a:ext cx="9144000" cy="382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33460"/>
      </p:ext>
    </p:extLst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8">
          <a:extLst>
            <a:ext uri="{FF2B5EF4-FFF2-40B4-BE49-F238E27FC236}">
              <a16:creationId xmlns:a16="http://schemas.microsoft.com/office/drawing/2014/main" id="{AD7E9163-B226-354A-DACA-CC4F61D5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39">
            <a:extLst>
              <a:ext uri="{FF2B5EF4-FFF2-40B4-BE49-F238E27FC236}">
                <a16:creationId xmlns:a16="http://schemas.microsoft.com/office/drawing/2014/main" id="{E8344703-618A-AF63-A3BF-13C0E4AF7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8561" y="237880"/>
            <a:ext cx="3336508" cy="21405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 </a:t>
            </a:r>
            <a:r>
              <a:rPr lang="en-US" dirty="0" err="1">
                <a:latin typeface="Advent Pro" panose="020B0604020202020204" charset="-18"/>
              </a:rPr>
              <a:t>Rezultati</a:t>
            </a:r>
            <a:r>
              <a:rPr lang="en-US" dirty="0">
                <a:latin typeface="Advent Pro" panose="020B0604020202020204" charset="-18"/>
              </a:rPr>
              <a:t> - </a:t>
            </a:r>
            <a:r>
              <a:rPr lang="en-US" dirty="0" err="1">
                <a:latin typeface="Advent Pro" panose="020B0604020202020204" charset="-18"/>
              </a:rPr>
              <a:t>Multimedijalni</a:t>
            </a:r>
            <a:r>
              <a:rPr lang="en-US" dirty="0">
                <a:latin typeface="Advent Pro" panose="020B0604020202020204" charset="-18"/>
              </a:rPr>
              <a:t> </a:t>
            </a:r>
            <a:r>
              <a:rPr lang="en-US" dirty="0" err="1">
                <a:latin typeface="Advent Pro" panose="020B0604020202020204" charset="-18"/>
              </a:rPr>
              <a:t>podaci</a:t>
            </a:r>
            <a:r>
              <a:rPr lang="en-US" dirty="0">
                <a:latin typeface="Advent Pro" panose="020B0604020202020204" charset="-18"/>
              </a:rPr>
              <a:t> (PNG/JPG)</a:t>
            </a:r>
            <a:br>
              <a:rPr lang="en-US" dirty="0">
                <a:latin typeface="Advent Pro" panose="020B0604020202020204" charset="-18"/>
              </a:rPr>
            </a:br>
            <a:endParaRPr lang="en-US" dirty="0">
              <a:latin typeface="Advent Pro" panose="020B0604020202020204" charset="-1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BE7B5-344C-E3F7-B4E2-BC491CCA5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571750"/>
            <a:ext cx="6019563" cy="2570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84AF14-537F-C292-E9D3-E62A0B864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387" y="44540"/>
            <a:ext cx="6002122" cy="252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35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39"/>
          <p:cNvSpPr txBox="1">
            <a:spLocks noGrp="1"/>
          </p:cNvSpPr>
          <p:nvPr>
            <p:ph type="title"/>
          </p:nvPr>
        </p:nvSpPr>
        <p:spPr>
          <a:xfrm>
            <a:off x="0" y="491837"/>
            <a:ext cx="3373582" cy="12178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>
                <a:latin typeface="Advent Pro" panose="020B0604020202020204" charset="-18"/>
              </a:rPr>
              <a:t>ANALIZA- .ZIP I .locked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9CB60-1646-DB2C-BF03-295ACD3CA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049" y="0"/>
            <a:ext cx="5648951" cy="24139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0BCF32-A4C8-7E1B-75C3-606F3D86D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3913"/>
            <a:ext cx="6501177" cy="27295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40"/>
          <p:cNvSpPr/>
          <p:nvPr/>
        </p:nvSpPr>
        <p:spPr>
          <a:xfrm>
            <a:off x="4902551" y="30771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2" name="Google Shape;3182;p40"/>
          <p:cNvSpPr/>
          <p:nvPr/>
        </p:nvSpPr>
        <p:spPr>
          <a:xfrm>
            <a:off x="4902551" y="1804650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3" name="Google Shape;3183;p40"/>
          <p:cNvSpPr/>
          <p:nvPr/>
        </p:nvSpPr>
        <p:spPr>
          <a:xfrm>
            <a:off x="1242351" y="3074263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4" name="Google Shape;3184;p40"/>
          <p:cNvSpPr/>
          <p:nvPr/>
        </p:nvSpPr>
        <p:spPr>
          <a:xfrm>
            <a:off x="1242351" y="17853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5" name="Google Shape;3185;p4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>
                <a:latin typeface="Advent Pro" panose="020B0604020202020204" charset="-18"/>
              </a:rPr>
              <a:t>Praktična</a:t>
            </a:r>
            <a:r>
              <a:rPr lang="en-US" dirty="0">
                <a:latin typeface="Advent Pro" panose="020B0604020202020204" charset="-18"/>
              </a:rPr>
              <a:t> </a:t>
            </a:r>
            <a:r>
              <a:rPr lang="en-US" dirty="0" err="1">
                <a:latin typeface="Advent Pro" panose="020B0604020202020204" charset="-18"/>
              </a:rPr>
              <a:t>primena</a:t>
            </a:r>
            <a:r>
              <a:rPr lang="en-US" dirty="0">
                <a:latin typeface="Advent Pro" panose="020B0604020202020204" charset="-18"/>
              </a:rPr>
              <a:t> </a:t>
            </a:r>
            <a:r>
              <a:rPr lang="sr-Latn-RS" dirty="0">
                <a:latin typeface="Advent Pro" panose="020B0604020202020204" charset="-18"/>
              </a:rPr>
              <a:t> </a:t>
            </a:r>
            <a:r>
              <a:rPr lang="en-US" dirty="0" err="1">
                <a:latin typeface="Advent Pro" panose="020B0604020202020204" charset="-18"/>
              </a:rPr>
              <a:t>Detekcija</a:t>
            </a:r>
            <a:r>
              <a:rPr lang="en-US" dirty="0">
                <a:latin typeface="Advent Pro" panose="020B0604020202020204" charset="-18"/>
              </a:rPr>
              <a:t> </a:t>
            </a:r>
            <a:r>
              <a:rPr lang="en-US" dirty="0" err="1">
                <a:latin typeface="Advent Pro" panose="020B0604020202020204" charset="-18"/>
              </a:rPr>
              <a:t>anomalija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187" name="Google Shape;3187;p40"/>
          <p:cNvSpPr txBox="1">
            <a:spLocks noGrp="1"/>
          </p:cNvSpPr>
          <p:nvPr>
            <p:ph type="subTitle" idx="1"/>
          </p:nvPr>
        </p:nvSpPr>
        <p:spPr>
          <a:xfrm>
            <a:off x="2131850" y="1903500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000" b="1" dirty="0" err="1"/>
              <a:t>Zaštita</a:t>
            </a:r>
            <a:r>
              <a:rPr lang="en-US" sz="2000" b="1" dirty="0"/>
              <a:t> </a:t>
            </a:r>
            <a:r>
              <a:rPr lang="en-US" sz="2000" b="1" dirty="0" err="1"/>
              <a:t>podataka</a:t>
            </a:r>
            <a:r>
              <a:rPr lang="en-US" sz="2000" b="1" dirty="0"/>
              <a:t> u </a:t>
            </a:r>
            <a:r>
              <a:rPr lang="en-US" sz="2000" b="1" dirty="0" err="1"/>
              <a:t>prenosu</a:t>
            </a:r>
            <a:endParaRPr sz="2000" b="1" dirty="0"/>
          </a:p>
        </p:txBody>
      </p:sp>
      <p:sp>
        <p:nvSpPr>
          <p:cNvPr id="3189" name="Google Shape;3189;p40"/>
          <p:cNvSpPr txBox="1">
            <a:spLocks noGrp="1"/>
          </p:cNvSpPr>
          <p:nvPr>
            <p:ph type="subTitle" idx="4"/>
          </p:nvPr>
        </p:nvSpPr>
        <p:spPr>
          <a:xfrm>
            <a:off x="5792049" y="1956150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000" b="1" dirty="0" err="1"/>
              <a:t>Prepoznavanje</a:t>
            </a:r>
            <a:r>
              <a:rPr lang="en-US" sz="2000" b="1" dirty="0"/>
              <a:t> Ransomware-a</a:t>
            </a:r>
            <a:endParaRPr sz="2000" b="1" dirty="0"/>
          </a:p>
        </p:txBody>
      </p:sp>
      <p:sp>
        <p:nvSpPr>
          <p:cNvPr id="3191" name="Google Shape;3191;p40"/>
          <p:cNvSpPr txBox="1">
            <a:spLocks noGrp="1"/>
          </p:cNvSpPr>
          <p:nvPr>
            <p:ph type="subTitle" idx="6"/>
          </p:nvPr>
        </p:nvSpPr>
        <p:spPr>
          <a:xfrm>
            <a:off x="2131850" y="3235750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000" b="1" dirty="0" err="1"/>
              <a:t>Digitalna</a:t>
            </a:r>
            <a:r>
              <a:rPr lang="en-US" sz="2000" b="1" dirty="0"/>
              <a:t> </a:t>
            </a:r>
            <a:r>
              <a:rPr lang="en-US" sz="2000" b="1" dirty="0" err="1"/>
              <a:t>forenzika</a:t>
            </a:r>
            <a:endParaRPr sz="2000" b="1" dirty="0"/>
          </a:p>
        </p:txBody>
      </p:sp>
      <p:sp>
        <p:nvSpPr>
          <p:cNvPr id="3193" name="Google Shape;3193;p40"/>
          <p:cNvSpPr txBox="1">
            <a:spLocks noGrp="1"/>
          </p:cNvSpPr>
          <p:nvPr>
            <p:ph type="subTitle" idx="8"/>
          </p:nvPr>
        </p:nvSpPr>
        <p:spPr>
          <a:xfrm>
            <a:off x="5792049" y="3235750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000" b="1" dirty="0" err="1"/>
              <a:t>Integritet</a:t>
            </a:r>
            <a:r>
              <a:rPr lang="en-US" sz="2000" b="1" dirty="0"/>
              <a:t> </a:t>
            </a:r>
            <a:r>
              <a:rPr lang="en-US" sz="2000" b="1" dirty="0" err="1"/>
              <a:t>sistema</a:t>
            </a:r>
            <a:endParaRPr sz="2000" b="1" dirty="0"/>
          </a:p>
        </p:txBody>
      </p:sp>
      <p:sp>
        <p:nvSpPr>
          <p:cNvPr id="3194" name="Google Shape;3194;p40"/>
          <p:cNvSpPr txBox="1">
            <a:spLocks noGrp="1"/>
          </p:cNvSpPr>
          <p:nvPr>
            <p:ph type="title" idx="9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latin typeface="Advent Pro" panose="020B0604020202020204" charset="-18"/>
              </a:rPr>
              <a:t>01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195" name="Google Shape;3195;p40"/>
          <p:cNvSpPr txBox="1">
            <a:spLocks noGrp="1"/>
          </p:cNvSpPr>
          <p:nvPr>
            <p:ph type="title" idx="13"/>
          </p:nvPr>
        </p:nvSpPr>
        <p:spPr>
          <a:xfrm>
            <a:off x="1242050" y="32357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latin typeface="Advent Pro" panose="020B0604020202020204" charset="-18"/>
              </a:rPr>
              <a:t>02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196" name="Google Shape;3196;p40"/>
          <p:cNvSpPr txBox="1">
            <a:spLocks noGrp="1"/>
          </p:cNvSpPr>
          <p:nvPr>
            <p:ph type="title" idx="14"/>
          </p:nvPr>
        </p:nvSpPr>
        <p:spPr>
          <a:xfrm>
            <a:off x="4902258" y="19497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latin typeface="Advent Pro" panose="020B0604020202020204" charset="-18"/>
              </a:rPr>
              <a:t>01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197" name="Google Shape;3197;p40"/>
          <p:cNvSpPr txBox="1">
            <a:spLocks noGrp="1"/>
          </p:cNvSpPr>
          <p:nvPr>
            <p:ph type="title" idx="15"/>
          </p:nvPr>
        </p:nvSpPr>
        <p:spPr>
          <a:xfrm>
            <a:off x="4902258" y="32386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latin typeface="Advent Pro" panose="020B0604020202020204" charset="-18"/>
              </a:rPr>
              <a:t>02</a:t>
            </a:r>
            <a:endParaRPr dirty="0">
              <a:latin typeface="Advent Pro" panose="020B0604020202020204" charset="-1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0">
          <a:extLst>
            <a:ext uri="{FF2B5EF4-FFF2-40B4-BE49-F238E27FC236}">
              <a16:creationId xmlns:a16="http://schemas.microsoft.com/office/drawing/2014/main" id="{E522495C-F93E-7D28-48B1-644312EA9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40">
            <a:extLst>
              <a:ext uri="{FF2B5EF4-FFF2-40B4-BE49-F238E27FC236}">
                <a16:creationId xmlns:a16="http://schemas.microsoft.com/office/drawing/2014/main" id="{AB65321B-8D60-055B-3248-3A4470F006DB}"/>
              </a:ext>
            </a:extLst>
          </p:cNvPr>
          <p:cNvSpPr/>
          <p:nvPr/>
        </p:nvSpPr>
        <p:spPr>
          <a:xfrm>
            <a:off x="4979049" y="1758450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2" name="Google Shape;3182;p40">
            <a:extLst>
              <a:ext uri="{FF2B5EF4-FFF2-40B4-BE49-F238E27FC236}">
                <a16:creationId xmlns:a16="http://schemas.microsoft.com/office/drawing/2014/main" id="{CC0F1616-62C6-9AB0-80CF-4507ADCE908A}"/>
              </a:ext>
            </a:extLst>
          </p:cNvPr>
          <p:cNvSpPr/>
          <p:nvPr/>
        </p:nvSpPr>
        <p:spPr>
          <a:xfrm>
            <a:off x="1241743" y="2829100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3" name="Google Shape;3183;p40">
            <a:extLst>
              <a:ext uri="{FF2B5EF4-FFF2-40B4-BE49-F238E27FC236}">
                <a16:creationId xmlns:a16="http://schemas.microsoft.com/office/drawing/2014/main" id="{163B2290-FD8C-FEDB-FA43-A0812FE52A73}"/>
              </a:ext>
            </a:extLst>
          </p:cNvPr>
          <p:cNvSpPr/>
          <p:nvPr/>
        </p:nvSpPr>
        <p:spPr>
          <a:xfrm>
            <a:off x="1241743" y="39506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4" name="Google Shape;3184;p40">
            <a:extLst>
              <a:ext uri="{FF2B5EF4-FFF2-40B4-BE49-F238E27FC236}">
                <a16:creationId xmlns:a16="http://schemas.microsoft.com/office/drawing/2014/main" id="{F8778FFD-0367-5B55-B743-1B6964E6584F}"/>
              </a:ext>
            </a:extLst>
          </p:cNvPr>
          <p:cNvSpPr/>
          <p:nvPr/>
        </p:nvSpPr>
        <p:spPr>
          <a:xfrm>
            <a:off x="1242351" y="17853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6" name="Google Shape;3186;p40">
            <a:extLst>
              <a:ext uri="{FF2B5EF4-FFF2-40B4-BE49-F238E27FC236}">
                <a16:creationId xmlns:a16="http://schemas.microsoft.com/office/drawing/2014/main" id="{EFD4232A-41E2-84F2-4BE4-0EECA4BBE9E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68274" y="679711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dvent Pro" panose="020B0604020202020204" charset="-18"/>
              </a:rPr>
              <a:t>PREDNOSTI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187" name="Google Shape;3187;p40">
            <a:extLst>
              <a:ext uri="{FF2B5EF4-FFF2-40B4-BE49-F238E27FC236}">
                <a16:creationId xmlns:a16="http://schemas.microsoft.com/office/drawing/2014/main" id="{575EDEC5-C78E-1029-2DDE-5E74955D8F3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1850" y="1881556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Detekcija</a:t>
            </a:r>
            <a:r>
              <a:rPr lang="en-US" b="1" dirty="0"/>
              <a:t> bez </a:t>
            </a:r>
            <a:r>
              <a:rPr lang="en-US" b="1" dirty="0" err="1"/>
              <a:t>poznavanja</a:t>
            </a:r>
            <a:r>
              <a:rPr lang="en-US" b="1" dirty="0"/>
              <a:t> </a:t>
            </a:r>
            <a:r>
              <a:rPr lang="en-US" b="1" dirty="0" err="1"/>
              <a:t>ključa</a:t>
            </a:r>
            <a:endParaRPr b="1" dirty="0"/>
          </a:p>
        </p:txBody>
      </p:sp>
      <p:sp>
        <p:nvSpPr>
          <p:cNvPr id="3188" name="Google Shape;3188;p40">
            <a:extLst>
              <a:ext uri="{FF2B5EF4-FFF2-40B4-BE49-F238E27FC236}">
                <a16:creationId xmlns:a16="http://schemas.microsoft.com/office/drawing/2014/main" id="{72345393-A142-EAA1-19C1-5FB9B1EBBAFE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4974951" y="667992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dvent Pro" panose="020B0604020202020204" charset="-18"/>
              </a:rPr>
              <a:t>OGRANI</a:t>
            </a:r>
            <a:r>
              <a:rPr lang="sr-Latn-RS" dirty="0">
                <a:latin typeface="Advent Pro" panose="020B0604020202020204" charset="-18"/>
              </a:rPr>
              <a:t>ČENJA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189" name="Google Shape;3189;p40">
            <a:extLst>
              <a:ext uri="{FF2B5EF4-FFF2-40B4-BE49-F238E27FC236}">
                <a16:creationId xmlns:a16="http://schemas.microsoft.com/office/drawing/2014/main" id="{9EDBABD8-D44F-6760-81DE-2488BDE9CE1D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957350" y="1853484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Sličnost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kompresovanim</a:t>
            </a:r>
            <a:r>
              <a:rPr lang="en-US" b="1" dirty="0"/>
              <a:t> </a:t>
            </a:r>
            <a:r>
              <a:rPr lang="en-US" b="1" dirty="0" err="1"/>
              <a:t>podacima</a:t>
            </a:r>
            <a:endParaRPr b="1" dirty="0"/>
          </a:p>
        </p:txBody>
      </p:sp>
      <p:sp>
        <p:nvSpPr>
          <p:cNvPr id="3190" name="Google Shape;3190;p40">
            <a:extLst>
              <a:ext uri="{FF2B5EF4-FFF2-40B4-BE49-F238E27FC236}">
                <a16:creationId xmlns:a16="http://schemas.microsoft.com/office/drawing/2014/main" id="{926507D0-6D5F-133D-624B-6C3847DD56EB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21318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400" dirty="0" err="1">
                <a:latin typeface="Advent Pro" panose="020B0604020202020204" charset="-18"/>
              </a:rPr>
              <a:t>Brzina</a:t>
            </a:r>
            <a:r>
              <a:rPr lang="en-US" sz="1400" dirty="0">
                <a:latin typeface="Advent Pro" panose="020B0604020202020204" charset="-18"/>
              </a:rPr>
              <a:t> </a:t>
            </a:r>
            <a:r>
              <a:rPr lang="en-US" sz="1400" dirty="0" err="1">
                <a:latin typeface="Advent Pro" panose="020B0604020202020204" charset="-18"/>
              </a:rPr>
              <a:t>i</a:t>
            </a:r>
            <a:r>
              <a:rPr lang="en-US" sz="1400" dirty="0">
                <a:latin typeface="Advent Pro" panose="020B0604020202020204" charset="-18"/>
              </a:rPr>
              <a:t> </a:t>
            </a:r>
            <a:r>
              <a:rPr lang="en-US" sz="1400" dirty="0" err="1">
                <a:latin typeface="Advent Pro" panose="020B0604020202020204" charset="-18"/>
              </a:rPr>
              <a:t>efikasnost</a:t>
            </a:r>
            <a:endParaRPr sz="1400" dirty="0">
              <a:latin typeface="Advent Pro" panose="020B0604020202020204" charset="-18"/>
            </a:endParaRPr>
          </a:p>
        </p:txBody>
      </p:sp>
      <p:sp>
        <p:nvSpPr>
          <p:cNvPr id="3191" name="Google Shape;3191;p40">
            <a:extLst>
              <a:ext uri="{FF2B5EF4-FFF2-40B4-BE49-F238E27FC236}">
                <a16:creationId xmlns:a16="http://schemas.microsoft.com/office/drawing/2014/main" id="{9927CACF-3D5E-8F52-1CE4-0D6EF4EE4562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2131850" y="4049525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 err="1"/>
              <a:t>Metoda</a:t>
            </a:r>
            <a:r>
              <a:rPr lang="en-US" b="1" dirty="0"/>
              <a:t> </a:t>
            </a:r>
            <a:r>
              <a:rPr lang="en-US" b="1" dirty="0" err="1"/>
              <a:t>funkcioniše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svim</a:t>
            </a:r>
            <a:r>
              <a:rPr lang="en-US" b="1" dirty="0"/>
              <a:t> </a:t>
            </a:r>
            <a:r>
              <a:rPr lang="en-US" b="1" dirty="0" err="1"/>
              <a:t>tipovima</a:t>
            </a:r>
            <a:r>
              <a:rPr lang="en-US" b="1" dirty="0"/>
              <a:t> </a:t>
            </a:r>
            <a:r>
              <a:rPr lang="en-US" b="1" dirty="0" err="1"/>
              <a:t>podataka</a:t>
            </a:r>
            <a:r>
              <a:rPr lang="en-US" b="1" dirty="0"/>
              <a:t>.</a:t>
            </a:r>
            <a:endParaRPr b="1" dirty="0"/>
          </a:p>
        </p:txBody>
      </p:sp>
      <p:sp>
        <p:nvSpPr>
          <p:cNvPr id="3192" name="Google Shape;3192;p40">
            <a:extLst>
              <a:ext uri="{FF2B5EF4-FFF2-40B4-BE49-F238E27FC236}">
                <a16:creationId xmlns:a16="http://schemas.microsoft.com/office/drawing/2014/main" id="{5413AF43-CE12-9058-AE88-419B7F141331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957350" y="293483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400" dirty="0" err="1">
                <a:latin typeface="Advent Pro" panose="020B0604020202020204" charset="-18"/>
              </a:rPr>
              <a:t>Nemogućnost</a:t>
            </a:r>
            <a:r>
              <a:rPr lang="en-US" sz="1400" dirty="0">
                <a:latin typeface="Advent Pro" panose="020B0604020202020204" charset="-18"/>
              </a:rPr>
              <a:t> </a:t>
            </a:r>
            <a:r>
              <a:rPr lang="en-US" sz="1400" dirty="0" err="1">
                <a:latin typeface="Advent Pro" panose="020B0604020202020204" charset="-18"/>
              </a:rPr>
              <a:t>razlikovanja</a:t>
            </a:r>
            <a:r>
              <a:rPr lang="en-US" sz="1400" dirty="0">
                <a:latin typeface="Advent Pro" panose="020B0604020202020204" charset="-18"/>
              </a:rPr>
              <a:t> </a:t>
            </a:r>
            <a:r>
              <a:rPr lang="en-US" sz="1400" dirty="0" err="1">
                <a:latin typeface="Advent Pro" panose="020B0604020202020204" charset="-18"/>
              </a:rPr>
              <a:t>algoritama</a:t>
            </a:r>
            <a:endParaRPr sz="1400" dirty="0">
              <a:latin typeface="Advent Pro" panose="020B0604020202020204" charset="-18"/>
            </a:endParaRPr>
          </a:p>
        </p:txBody>
      </p:sp>
      <p:sp>
        <p:nvSpPr>
          <p:cNvPr id="3193" name="Google Shape;3193;p40">
            <a:extLst>
              <a:ext uri="{FF2B5EF4-FFF2-40B4-BE49-F238E27FC236}">
                <a16:creationId xmlns:a16="http://schemas.microsoft.com/office/drawing/2014/main" id="{84526D82-34BD-A3BD-02E2-729F5E2DDEE1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957350" y="3930218"/>
            <a:ext cx="2217510" cy="8542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Za </a:t>
            </a:r>
            <a:r>
              <a:rPr lang="en-US" b="1" dirty="0" err="1"/>
              <a:t>veoma</a:t>
            </a:r>
            <a:r>
              <a:rPr lang="en-US" b="1" dirty="0"/>
              <a:t> male </a:t>
            </a:r>
            <a:r>
              <a:rPr lang="en-US" b="1" dirty="0" err="1"/>
              <a:t>fajlove</a:t>
            </a:r>
            <a:r>
              <a:rPr lang="en-US" b="1" dirty="0"/>
              <a:t> (</a:t>
            </a:r>
            <a:r>
              <a:rPr lang="en-US" b="1" dirty="0" err="1"/>
              <a:t>npr</a:t>
            </a:r>
            <a:r>
              <a:rPr lang="en-US" b="1" dirty="0"/>
              <a:t>. </a:t>
            </a:r>
            <a:r>
              <a:rPr lang="en-US" b="1" dirty="0" err="1"/>
              <a:t>samo</a:t>
            </a:r>
            <a:r>
              <a:rPr lang="en-US" b="1" dirty="0"/>
              <a:t> par </a:t>
            </a:r>
            <a:r>
              <a:rPr lang="en-US" b="1" dirty="0" err="1"/>
              <a:t>bajtova</a:t>
            </a:r>
            <a:r>
              <a:rPr lang="en-US" b="1" dirty="0"/>
              <a:t>), </a:t>
            </a:r>
            <a:r>
              <a:rPr lang="en-US" b="1" dirty="0" err="1"/>
              <a:t>entropija</a:t>
            </a:r>
            <a:r>
              <a:rPr lang="en-US" b="1" dirty="0"/>
              <a:t> </a:t>
            </a:r>
            <a:r>
              <a:rPr lang="en-US" b="1" dirty="0" err="1"/>
              <a:t>nije</a:t>
            </a:r>
            <a:r>
              <a:rPr lang="en-US" b="1" dirty="0"/>
              <a:t> </a:t>
            </a:r>
            <a:r>
              <a:rPr lang="en-US" b="1" dirty="0" err="1"/>
              <a:t>uvek</a:t>
            </a:r>
            <a:r>
              <a:rPr lang="en-US" b="1" dirty="0"/>
              <a:t> </a:t>
            </a:r>
            <a:r>
              <a:rPr lang="en-US" b="1" dirty="0" err="1"/>
              <a:t>pouzdana</a:t>
            </a:r>
            <a:r>
              <a:rPr lang="en-US" b="1" dirty="0"/>
              <a:t>.</a:t>
            </a:r>
            <a:endParaRPr dirty="0"/>
          </a:p>
        </p:txBody>
      </p:sp>
      <p:sp>
        <p:nvSpPr>
          <p:cNvPr id="3194" name="Google Shape;3194;p40">
            <a:extLst>
              <a:ext uri="{FF2B5EF4-FFF2-40B4-BE49-F238E27FC236}">
                <a16:creationId xmlns:a16="http://schemas.microsoft.com/office/drawing/2014/main" id="{4047E980-0B8C-6B91-1999-75662492ABA1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dvent Pro" panose="020B0604020202020204" charset="-18"/>
              </a:rPr>
              <a:t>01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195" name="Google Shape;3195;p40">
            <a:extLst>
              <a:ext uri="{FF2B5EF4-FFF2-40B4-BE49-F238E27FC236}">
                <a16:creationId xmlns:a16="http://schemas.microsoft.com/office/drawing/2014/main" id="{D86937EA-9343-1DDE-4978-A5B6A6BB7B8C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1241143" y="4115075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dvent Pro" panose="020B0604020202020204" charset="-18"/>
              </a:rPr>
              <a:t>03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196" name="Google Shape;3196;p40">
            <a:extLst>
              <a:ext uri="{FF2B5EF4-FFF2-40B4-BE49-F238E27FC236}">
                <a16:creationId xmlns:a16="http://schemas.microsoft.com/office/drawing/2014/main" id="{44767E8E-14CA-AE6E-AD7C-0C1308407440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1241143" y="295643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dvent Pro" panose="020B0604020202020204" charset="-18"/>
              </a:rPr>
              <a:t>02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3197" name="Google Shape;3197;p40">
            <a:extLst>
              <a:ext uri="{FF2B5EF4-FFF2-40B4-BE49-F238E27FC236}">
                <a16:creationId xmlns:a16="http://schemas.microsoft.com/office/drawing/2014/main" id="{71371BC8-90F0-D254-DCF1-DB1A2C7D68C9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4978449" y="1920858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dvent Pro" panose="020B0604020202020204" charset="-18"/>
              </a:rPr>
              <a:t>01</a:t>
            </a:r>
            <a:endParaRPr dirty="0">
              <a:latin typeface="Advent Pro" panose="020B0604020202020204" charset="-18"/>
            </a:endParaRPr>
          </a:p>
        </p:txBody>
      </p:sp>
      <p:sp>
        <p:nvSpPr>
          <p:cNvPr id="2" name="Google Shape;3181;p40">
            <a:extLst>
              <a:ext uri="{FF2B5EF4-FFF2-40B4-BE49-F238E27FC236}">
                <a16:creationId xmlns:a16="http://schemas.microsoft.com/office/drawing/2014/main" id="{0F7C77A4-DE41-85CD-3DDC-05FB2F595C8D}"/>
              </a:ext>
            </a:extLst>
          </p:cNvPr>
          <p:cNvSpPr/>
          <p:nvPr/>
        </p:nvSpPr>
        <p:spPr>
          <a:xfrm>
            <a:off x="4979049" y="2792030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181;p40">
            <a:extLst>
              <a:ext uri="{FF2B5EF4-FFF2-40B4-BE49-F238E27FC236}">
                <a16:creationId xmlns:a16="http://schemas.microsoft.com/office/drawing/2014/main" id="{00AAFF14-5A18-21CE-DB86-D196A2BD24C1}"/>
              </a:ext>
            </a:extLst>
          </p:cNvPr>
          <p:cNvSpPr/>
          <p:nvPr/>
        </p:nvSpPr>
        <p:spPr>
          <a:xfrm>
            <a:off x="4979049" y="38941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197;p40">
            <a:extLst>
              <a:ext uri="{FF2B5EF4-FFF2-40B4-BE49-F238E27FC236}">
                <a16:creationId xmlns:a16="http://schemas.microsoft.com/office/drawing/2014/main" id="{A81B5B1A-9490-C708-C7F9-205C4A7E881B}"/>
              </a:ext>
            </a:extLst>
          </p:cNvPr>
          <p:cNvSpPr txBox="1">
            <a:spLocks/>
          </p:cNvSpPr>
          <p:nvPr/>
        </p:nvSpPr>
        <p:spPr>
          <a:xfrm>
            <a:off x="4978449" y="2956430"/>
            <a:ext cx="8139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30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" dirty="0">
                <a:latin typeface="Advent Pro" panose="020B0604020202020204" charset="-18"/>
              </a:rPr>
              <a:t>02</a:t>
            </a:r>
          </a:p>
        </p:txBody>
      </p:sp>
      <p:sp>
        <p:nvSpPr>
          <p:cNvPr id="8" name="Google Shape;3195;p40">
            <a:extLst>
              <a:ext uri="{FF2B5EF4-FFF2-40B4-BE49-F238E27FC236}">
                <a16:creationId xmlns:a16="http://schemas.microsoft.com/office/drawing/2014/main" id="{4B58008B-3073-CF94-84B9-4529F47E9D6C}"/>
              </a:ext>
            </a:extLst>
          </p:cNvPr>
          <p:cNvSpPr txBox="1">
            <a:spLocks/>
          </p:cNvSpPr>
          <p:nvPr/>
        </p:nvSpPr>
        <p:spPr>
          <a:xfrm>
            <a:off x="4974951" y="4058575"/>
            <a:ext cx="8139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3000" b="1" i="0" u="none" strike="noStrike" cap="none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Font typeface="Alumni Sans Pinstripe"/>
              <a:buNone/>
              <a:defRPr sz="4800" b="1" i="0" u="none" strike="noStrike" cap="none">
                <a:solidFill>
                  <a:schemeClr val="accent4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" dirty="0">
                <a:latin typeface="Advent Pro" panose="020B0604020202020204" charset="-18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20439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B1A5-B44F-6787-2061-CBE4D78F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857" y="219788"/>
            <a:ext cx="5085900" cy="831300"/>
          </a:xfrm>
        </p:spPr>
        <p:txBody>
          <a:bodyPr/>
          <a:lstStyle/>
          <a:p>
            <a:r>
              <a:rPr lang="en-US" dirty="0">
                <a:latin typeface="Advent Pro" panose="020B0604020202020204" charset="-18"/>
              </a:rPr>
              <a:t>ZAKLJU</a:t>
            </a:r>
            <a:r>
              <a:rPr lang="sr-Latn-RS" dirty="0">
                <a:latin typeface="Advent Pro" panose="020B0604020202020204" charset="-18"/>
              </a:rPr>
              <a:t>Č</a:t>
            </a:r>
            <a:r>
              <a:rPr lang="en-US" dirty="0">
                <a:latin typeface="Advent Pro" panose="020B0604020202020204" charset="-18"/>
              </a:rPr>
              <a:t>AK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8BF952-9206-0118-A4F8-23E05D41AC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8418" y="1455426"/>
            <a:ext cx="56388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AES-128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uspešno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transformiše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prepoznatljive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podatke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u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neprobojan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informacioni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šum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Rezultati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su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potvrdili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da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kvalitetna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enkripcija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uvek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teži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idealnoj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vrednosti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od 8.0,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čineći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podatke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statistički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nevidljivim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sr-Latn-RS" altLang="en-US" sz="2400" b="1" dirty="0">
                <a:solidFill>
                  <a:schemeClr val="tx1"/>
                </a:solidFill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U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svetu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superkompjutera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matematika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je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jedina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barijera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koja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ostaje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nepremostiva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vent Pro" panose="020B0604020202020204" charset="-1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2295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yber Security Kill Chain by Slidesgo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C09D9CB-B554-498A-BB29-0A3E4F112CB8}">
  <we:reference id="4b785c87-866c-4bad-85d8-5d1ae467ac9a" version="3.21.0.0" store="EXCatalog" storeType="EXCatalog"/>
  <we:alternateReferences>
    <we:reference id="WA104381909" version="3.21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454</Words>
  <Application>Microsoft Office PowerPoint</Application>
  <PresentationFormat>On-screen Show (16:9)</PresentationFormat>
  <Paragraphs>73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Alumni Sans Pinstripe</vt:lpstr>
      <vt:lpstr>Arial</vt:lpstr>
      <vt:lpstr>Advent Pro</vt:lpstr>
      <vt:lpstr>Wingdings</vt:lpstr>
      <vt:lpstr>Arial Black</vt:lpstr>
      <vt:lpstr>Cyber Security Kill Chain by Slidesgo</vt:lpstr>
      <vt:lpstr>Custom Design</vt:lpstr>
      <vt:lpstr>Analiza i detekcija enkripcije u fajl sistemu pomoću Šenonove entropije</vt:lpstr>
      <vt:lpstr>UVOD I CILJ RADA</vt:lpstr>
      <vt:lpstr> Koncept privatnosti i zaštite</vt:lpstr>
      <vt:lpstr>ENTROPIJA</vt:lpstr>
      <vt:lpstr>Matematička osnova entropije</vt:lpstr>
      <vt:lpstr>ENTROPIJA</vt:lpstr>
      <vt:lpstr> Metodologija rada (Eksperiment) </vt:lpstr>
      <vt:lpstr>AES</vt:lpstr>
      <vt:lpstr>METODOLOGIJA TESTIRANJA</vt:lpstr>
      <vt:lpstr> Analiza rezultata: Tekstualni uzorci</vt:lpstr>
      <vt:lpstr> Rezultati - Multimedijalni podaci (PNG/JPG) </vt:lpstr>
      <vt:lpstr>ANALIZA- .ZIP I .locked</vt:lpstr>
      <vt:lpstr>Praktična primena  Detekcija anomalija</vt:lpstr>
      <vt:lpstr>PREDNOSTI</vt:lpstr>
      <vt:lpstr>ZAKLJUČAK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Višnja Radonjić - 2023201114</cp:lastModifiedBy>
  <cp:revision>17</cp:revision>
  <dcterms:modified xsi:type="dcterms:W3CDTF">2026-02-03T15:23:03Z</dcterms:modified>
</cp:coreProperties>
</file>